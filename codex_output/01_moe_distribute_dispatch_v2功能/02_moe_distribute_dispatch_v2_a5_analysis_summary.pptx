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4d221eb2cd44db" /><Relationship Type="http://schemas.openxmlformats.org/officeDocument/2006/relationships/extended-properties" Target="/docProps/app.xml" Id="R9f5af07c6f4a424e" /><Relationship Type="http://schemas.openxmlformats.org/officeDocument/2006/relationships/officeDocument" Target="/ppt/presentation.xml" Id="R82e3f00698324b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8dfbcfb5a14029"/>
  </p:sldMasterIdLst>
  <p:notesMasterIdLst>
    <p:notesMasterId xmlns:r="http://schemas.openxmlformats.org/officeDocument/2006/relationships" r:id="Rdc435b07cc85422d"/>
  </p:notesMasterIdLst>
  <p:sldIdLst>
    <p:sldId xmlns:r="http://schemas.openxmlformats.org/officeDocument/2006/relationships" id="256" r:id="R0a2a3485e5e84e17"/>
    <p:sldId xmlns:r="http://schemas.openxmlformats.org/officeDocument/2006/relationships" id="257" r:id="Rdecc6c92c73541c0"/>
    <p:sldId xmlns:r="http://schemas.openxmlformats.org/officeDocument/2006/relationships" id="258" r:id="R0d45a5c091a24414"/>
    <p:sldId xmlns:r="http://schemas.openxmlformats.org/officeDocument/2006/relationships" id="259" r:id="Re552a6ac94054487"/>
    <p:sldId xmlns:r="http://schemas.openxmlformats.org/officeDocument/2006/relationships" id="260" r:id="Rf0a4ce7780e44833"/>
    <p:sldId xmlns:r="http://schemas.openxmlformats.org/officeDocument/2006/relationships" id="261" r:id="Rf465ab455fb74916"/>
    <p:sldId xmlns:r="http://schemas.openxmlformats.org/officeDocument/2006/relationships" id="262" r:id="R81afd460e04145a5"/>
    <p:sldId xmlns:r="http://schemas.openxmlformats.org/officeDocument/2006/relationships" id="263" r:id="Rb0e6449f41bd47ef"/>
    <p:sldId xmlns:r="http://schemas.openxmlformats.org/officeDocument/2006/relationships" id="264" r:id="R9cde15da378c402e"/>
    <p:sldId xmlns:r="http://schemas.openxmlformats.org/officeDocument/2006/relationships" id="265" r:id="R10db7dd7de504678"/>
    <p:sldId xmlns:r="http://schemas.openxmlformats.org/officeDocument/2006/relationships" id="266" r:id="R191acb9f492c41a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3fb15b7e944993" /><Relationship Type="http://schemas.openxmlformats.org/officeDocument/2006/relationships/slideMaster" Target="/ppt/slideMasters/slideMaster1.xml" Id="R398dfbcfb5a14029" /><Relationship Type="http://schemas.openxmlformats.org/officeDocument/2006/relationships/notesMaster" Target="/ppt/notesMasters/notesMaster1.xml" Id="Rdc435b07cc85422d" /><Relationship Type="http://schemas.openxmlformats.org/officeDocument/2006/relationships/presProps" Target="/ppt/presProps.xml" Id="R468ea0543b4d4851" /><Relationship Type="http://schemas.openxmlformats.org/officeDocument/2006/relationships/tableStyles" Target="/ppt/tableStyles.xml" Id="R458ba6c164e048c1" /><Relationship Type="http://schemas.openxmlformats.org/officeDocument/2006/relationships/slide" Target="/ppt/slides/slide1.xml" Id="R0a2a3485e5e84e17" /><Relationship Type="http://schemas.openxmlformats.org/officeDocument/2006/relationships/slide" Target="/ppt/slides/slide2.xml" Id="Rdecc6c92c73541c0" /><Relationship Type="http://schemas.openxmlformats.org/officeDocument/2006/relationships/slide" Target="/ppt/slides/slide3.xml" Id="R0d45a5c091a24414" /><Relationship Type="http://schemas.openxmlformats.org/officeDocument/2006/relationships/slide" Target="/ppt/slides/slide4.xml" Id="Re552a6ac94054487" /><Relationship Type="http://schemas.openxmlformats.org/officeDocument/2006/relationships/slide" Target="/ppt/slides/slide5.xml" Id="Rf0a4ce7780e44833" /><Relationship Type="http://schemas.openxmlformats.org/officeDocument/2006/relationships/slide" Target="/ppt/slides/slide6.xml" Id="Rf465ab455fb74916" /><Relationship Type="http://schemas.openxmlformats.org/officeDocument/2006/relationships/slide" Target="/ppt/slides/slide7.xml" Id="R81afd460e04145a5" /><Relationship Type="http://schemas.openxmlformats.org/officeDocument/2006/relationships/slide" Target="/ppt/slides/slide8.xml" Id="Rb0e6449f41bd47ef" /><Relationship Type="http://schemas.openxmlformats.org/officeDocument/2006/relationships/slide" Target="/ppt/slides/slide9.xml" Id="R9cde15da378c402e" /><Relationship Type="http://schemas.openxmlformats.org/officeDocument/2006/relationships/slide" Target="/ppt/slides/slide10.xml" Id="R10db7dd7de504678" /><Relationship Type="http://schemas.openxmlformats.org/officeDocument/2006/relationships/slide" Target="/ppt/slides/slide11.xml" Id="R191acb9f492c41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42d3fa14b942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b86226f0b347cf" /><Relationship Type="http://schemas.openxmlformats.org/officeDocument/2006/relationships/notesMaster" Target="/ppt/notesMasters/notesMaster1.xml" Id="R9078dfc023c547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a118108dd9447a" /><Relationship Type="http://schemas.openxmlformats.org/officeDocument/2006/relationships/notesMaster" Target="/ppt/notesMasters/notesMaster1.xml" Id="R91611107f7944a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a3fd122e7a498c" /><Relationship Type="http://schemas.openxmlformats.org/officeDocument/2006/relationships/notesMaster" Target="/ppt/notesMasters/notesMaster1.xml" Id="R90b8bcb68a094c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19b5037db248e2" /><Relationship Type="http://schemas.openxmlformats.org/officeDocument/2006/relationships/notesMaster" Target="/ppt/notesMasters/notesMaster1.xml" Id="R7530b9c74be846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08f0a63d454a82" /><Relationship Type="http://schemas.openxmlformats.org/officeDocument/2006/relationships/notesMaster" Target="/ppt/notesMasters/notesMaster1.xml" Id="R67d2b686fa1b4d5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c4849b351843e5" /><Relationship Type="http://schemas.openxmlformats.org/officeDocument/2006/relationships/notesMaster" Target="/ppt/notesMasters/notesMaster1.xml" Id="Re80973e69c0443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a2ad51b13a4e21" /><Relationship Type="http://schemas.openxmlformats.org/officeDocument/2006/relationships/notesMaster" Target="/ppt/notesMasters/notesMaster1.xml" Id="R224c4c7318604e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0d0e0af0184bdc" /><Relationship Type="http://schemas.openxmlformats.org/officeDocument/2006/relationships/notesMaster" Target="/ppt/notesMasters/notesMaster1.xml" Id="R2d5c9a95ee4e4a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7ef81e4c9f49d5" /><Relationship Type="http://schemas.openxmlformats.org/officeDocument/2006/relationships/notesMaster" Target="/ppt/notesMasters/notesMaster1.xml" Id="R313231b7f97d4d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278db96c3c4c3a" /><Relationship Type="http://schemas.openxmlformats.org/officeDocument/2006/relationships/notesMaster" Target="/ppt/notesMasters/notesMaster1.xml" Id="Rd13e0fd98f8143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6ec77333a74ae2" /><Relationship Type="http://schemas.openxmlformats.org/officeDocument/2006/relationships/notesMaster" Target="/ppt/notesMasters/notesMaster1.xml" Id="R19382453e0c748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2d83ffd80a4d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588643bfe74c36" /><Relationship Type="http://schemas.openxmlformats.org/officeDocument/2006/relationships/slideLayout" Target="/ppt/slideLayouts/slideLayout1.xml" Id="Rd5dcff959d7948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dcff959d7948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1203f0658240ba" /><Relationship Type="http://schemas.openxmlformats.org/officeDocument/2006/relationships/notesSlide" Target="/ppt/notesSlides/notesSlide1.xml" Id="R6046452bdf8f4f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504fd8cd1240b7" /><Relationship Type="http://schemas.openxmlformats.org/officeDocument/2006/relationships/notesSlide" Target="/ppt/notesSlides/notesSlide2.xml" Id="R5370065ca50f4d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d1a5935e3437e" /><Relationship Type="http://schemas.openxmlformats.org/officeDocument/2006/relationships/notesSlide" Target="/ppt/notesSlides/notesSlide3.xml" Id="R47cd44167ba143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aa526e6c24cff" /><Relationship Type="http://schemas.openxmlformats.org/officeDocument/2006/relationships/notesSlide" Target="/ppt/notesSlides/notesSlide4.xml" Id="Rff6fd3fa9a2e407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8d38ab3934c5d" /><Relationship Type="http://schemas.openxmlformats.org/officeDocument/2006/relationships/notesSlide" Target="/ppt/notesSlides/notesSlide5.xml" Id="Re88ab48dd41c44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7f531b99d4b9c" /><Relationship Type="http://schemas.openxmlformats.org/officeDocument/2006/relationships/notesSlide" Target="/ppt/notesSlides/notesSlide6.xml" Id="Rd12a3ae1511d45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9829abc3c408a" /><Relationship Type="http://schemas.openxmlformats.org/officeDocument/2006/relationships/notesSlide" Target="/ppt/notesSlides/notesSlide7.xml" Id="R96c8ec3af67742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77396cbda4b8d" /><Relationship Type="http://schemas.openxmlformats.org/officeDocument/2006/relationships/notesSlide" Target="/ppt/notesSlides/notesSlide8.xml" Id="Rde4154060fe645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7d0aef8674768" /><Relationship Type="http://schemas.openxmlformats.org/officeDocument/2006/relationships/notesSlide" Target="/ppt/notesSlides/notesSlide9.xml" Id="R40e12605801f42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7ec44bc724ba4" /><Relationship Type="http://schemas.openxmlformats.org/officeDocument/2006/relationships/notesSlide" Target="/ppt/notesSlides/notesSlide10.xml" Id="R37bc533b2d7b4c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e563a46754292" /><Relationship Type="http://schemas.openxmlformats.org/officeDocument/2006/relationships/notesSlide" Target="/ppt/notesSlides/notesSlide11.xml" Id="R0657ae52649146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2004BA-EF0E-457C-B5BC-0DEE9655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6D009-FC95-43C1-ABC4-31BE6B98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7429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11827"/>
                </a:solidFill>
              </a:defRPr>
            </a:pPr>
            <a:r>
              <a:rPr sz="3450" b="1">
                <a:solidFill>
                  <a:srgbClr val="111827"/>
                </a:solidFill>
              </a:rPr>
              <a:t>MoeDistributeDispatchV2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B03-7E44-45B2-B9E3-6D6CFE57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723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94B7A"/>
                </a:solidFill>
              </a:defRPr>
            </a:pPr>
            <a:r>
              <a:rPr sz="2325" b="1">
                <a:solidFill>
                  <a:srgbClr val="194B7A"/>
                </a:solidFill>
              </a:rPr>
              <a:t>A5 分支算子功能与实现总结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13C7E-8545-4826-A821-C1178A64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B667A"/>
                </a:solidFill>
              </a:defRPr>
            </a:pPr>
            <a:r>
              <a:rPr sz="1500" b="0">
                <a:solidFill>
                  <a:srgbClr val="5B667A"/>
                </a:solidFill>
              </a:rPr>
              <a:t>覆盖算子功能、输入输出、Host Tiling、Device CCU 主流程和使用限制。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C7091-2EED-456E-928F-353E2FB9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76300"/>
            <a:ext cx="3143250" cy="4000500"/>
          </a:xfrm>
          <a:prstGeom xmlns:a="http://schemas.openxmlformats.org/drawingml/2006/main" prst="roundRect">
            <a:avLst>
              <a:gd name="adj" fmla="val 1212"/>
            </a:avLst>
          </a:prstGeom>
          <a:solidFill xmlns:a="http://schemas.openxmlformats.org/drawingml/2006/main">
            <a:srgbClr val="EAF7F7"/>
          </a:solidFill>
          <a:ln xmlns:a="http://schemas.openxmlformats.org/drawingml/2006/main" w="9525">
            <a:solidFill>
              <a:srgbClr val="C9E6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BFA921-B20F-480E-8CCD-7EB68A4B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52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94B7A"/>
                </a:solidFill>
              </a:defRPr>
            </a:pPr>
            <a:r>
              <a:rPr sz="2025" b="1">
                <a:solidFill>
                  <a:srgbClr val="194B7A"/>
                </a:solidFill>
              </a:rPr>
              <a:t>Dispatch Pipeline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94C7C-1D99-47B8-9C5B-942EDA72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38350"/>
            <a:ext cx="228600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CCD05-1D56-49DD-BC1A-852C0BB9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383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6A43E-4F61-4558-BFC7-BCEA6E28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288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5E07D-8C73-4D69-A5BE-E8099E93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90800"/>
            <a:ext cx="186690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根据 expertIds 将 token 分发到目标专家 rank。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924B00-7DD9-4AA3-B3CD-9CD98B0A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28600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1E5B9-CA8D-4932-A798-E29E8D29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F30A0-A620-4298-A6BC-9D41E678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2194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Quantize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29B5C-5B1B-4E66-ADD9-0D3F2D89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186690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按 quantMode 选择非量化、静态或动态量化。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2D3898-1B6F-4570-A013-6464FB641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19550"/>
            <a:ext cx="228600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8DCE8F-5810-4CD1-9F2F-5A1152CB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195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FEE91D-155E-4711-AD42-18241A0A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1866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AllToAllV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09C878-08BB-4376-B776-819D9E0F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72000"/>
            <a:ext cx="1866900" cy="5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EP 域内执行可变长通信并聚合输出。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9E7A8F-859A-4F78-AE52-5E45E65F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local code analysis and aclnnMoeDistributeDispatchV2 docs</a:t>
            </a:r>
          </a:p>
        </p:txBody>
      </p:sp>
    </p:spTree>
    <p:extLst>
      <p:ext uri="{BB962C8B-B14F-4D97-AF65-F5344CB8AC3E}">
        <p14:creationId xmlns:p14="http://schemas.microsoft.com/office/powerpoint/2010/main" val="18384491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1BBA8B-0DCC-4786-A798-23495BD0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722AF1-E574-463C-A094-FAEC215D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结论先行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AAB3B5-4208-471E-8483-89918D10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13C0C-158F-43E9-AF32-D9735493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E04A0-15F6-460A-B921-12CF24ABB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4953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EA05A9-0369-4582-AC88-578685E3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8A91E-2519-475A-B6A8-DF3A7F86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5260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功能定位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1464DA-A512-4ED2-8309-E9CB91FE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1455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MoE Dispatch 阶段的 token 路由、可选量化、EP 域通信和 Combine 辅助信息生成。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4F950D-E249-455F-A3A9-D30194AA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62100"/>
            <a:ext cx="4953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97F95-6137-435E-BA79-5F49E8B3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621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C4FB33-1123-4D10-B961-1BC74ED6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5260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A5 双路径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FEFB5-82B7-44E3-BF5A-FEAD315B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1455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commAlg=ccu 走 A5 CCU 专用实现；非 ccu 进入 MTE/fullmesh 通用 MC2 模板。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17C1FD-C48F-40F2-A2A2-CA953AF2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953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A82B9A-8395-4E3F-B611-C8764E3E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8DD45-A50D-48ED-8D9B-73A8DA2D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2425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核心风险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4F8327-B065-4459-ABCC-A6079EB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862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A、maxBS、localMoeExpertNum、H 和 scale 布局共同决定通信窗口需求。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B13059-8496-4839-B345-44D5CA3E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953000" cy="125730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B32F5-C037-44CE-BA8E-C6B74F36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FD448E-5647-426F-BD71-3765B0B2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2425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Device 主线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CE4FF7-357E-48CE-92EC-32C848D5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86200"/>
            <a:ext cx="4533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mask -&gt; 排序统计 -&gt; token 打包 -&gt; AllToAllV -&gt; gather 输出。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B8304D-1621-4B78-8938-4D547673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2884699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DADF2C-8012-4B56-AE04-DD6EEBAE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D34651-D70F-47DC-BD79-B5B9ACB4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算子功能：从 Router 输出到专家侧输入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D1349-3711-433E-B58B-06185C14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49143-9739-483D-8495-BAFFF986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22ACAB-0D62-4DCD-837A-F991F14A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881C8D-2360-44F4-BF56-B720AC58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288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E8731-6E34-4F3A-8809-7ED65975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token 特征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(BS,H)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E8F2A-9124-446A-80FF-0F81F216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90B3F-9CA6-496C-B0B3-4E1F8D5F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955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63D602-E054-4849-802F-C244BAB7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4384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4538B7-00E0-4D99-8809-DA77D2D5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3D1E88-1742-4271-ADDD-5F5E9E27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288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expertIds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8B760-2C88-4693-A31A-DCC51FF5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336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topK 专家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(BS,K)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30BBEC-DB30-4531-8DB6-74C4CD57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BFDC9C-8D4A-412F-9F90-F71BAFD2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955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8169F4-646A-4B9C-831E-B3E38950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384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7C048-DB2B-403E-B1BB-A828D117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574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222F8-6388-4C46-A36C-2AE6C563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288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Scatter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3092D1-1AD9-4380-B4C8-712847C8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336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按专家排序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并打包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93A8A-5B8C-41DC-A2F5-679CD5B2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574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F47743-260C-4524-8E6B-02F470F8A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955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7F75DD-73E2-4311-ADCE-9D3D1221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384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C762D-FAAB-45EB-829C-96BBE373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574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A4134A-7FBD-4E7F-8C1F-B54AFDE8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288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AllToAllV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71CF3C-F891-4E25-A901-B3C0B0C83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EP 域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可变长通信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8145C9-843F-46A0-9385-DDA98C55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574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710DD4-A086-408E-827C-5A9578FA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9555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E6EC77-4AD9-4FAB-90B1-2730F6F3F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384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2DDEF8-479B-4406-8C72-3F23AE37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574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491B33-78ED-41DB-8DF1-284565B3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2288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expandXOut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83CD23-17DD-4E10-ACDB-70843F5D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5336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专家侧输入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(A,H)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FCFAD4-4125-4348-B30C-0077779F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574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EA2458-988C-47D5-9493-5E434CEE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0363200" cy="10096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E5C47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1882A9-CBC1-4339-984C-AEA0F227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辅助输出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DA4E9A-8CCE-4E44-80BD-C8BAFBA9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895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除 token 数据外，算子还输出 CombineV2 所需的 assistInfo、expertTokenNums 和 EP 接收计数。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1A83C6-7651-4791-93C7-CC9724AD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67A"/>
                </a:solidFill>
              </a:defRPr>
            </a:pPr>
            <a:r>
              <a:rPr sz="1200" b="0">
                <a:solidFill>
                  <a:srgbClr val="5B667A"/>
                </a:solidFill>
              </a:rPr>
              <a:t>这些内部布局可能随产品或算法变化，业务侧应直接传给 Combine，不应解析内部值。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71E1B07-872A-4A14-AF42-2DAFE66A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4358368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5C2E65-4E3B-4F4A-B6DB-7D96EF90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D2451C-B2CF-4D59-A97D-BC150B9A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第一次出现的核心变量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9ADFC-EAAB-4BF6-AA3C-D45FC195B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3FC07-83AA-4472-B456-C68B7B57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D45B0-ABE8-45BE-9002-5DF30FB9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EDCC3-CC1A-4D83-AF30-EAE7C708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94B7A"/>
                </a:solidFill>
              </a:defRPr>
            </a:pPr>
            <a:r>
              <a:rPr sz="1350" b="1">
                <a:solidFill>
                  <a:srgbClr val="194B7A"/>
                </a:solidFill>
              </a:rPr>
              <a:t>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50D84-99CE-4714-A38A-81B33D8C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002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本 rank 输入 token 数，即 x.shape[0]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1D34C-5729-4DDB-B5BB-D93CD3A6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68A5D-94CA-4E27-85EF-F66808AC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94B7A"/>
                </a:solidFill>
              </a:defRPr>
            </a:pPr>
            <a:r>
              <a:rPr sz="1350" b="1">
                <a:solidFill>
                  <a:srgbClr val="194B7A"/>
                </a:solidFill>
              </a:rPr>
              <a:t>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E726A-AF10-4020-B271-A2871B67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2288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hidden size，即 x.shape[1]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399DCF-D19D-4BFE-8ACE-3087EED3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51AE2B-484C-4CEA-A233-74DD66FD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94B7A"/>
                </a:solidFill>
              </a:defRPr>
            </a:pPr>
            <a:r>
              <a:rPr sz="1350" b="1">
                <a:solidFill>
                  <a:srgbClr val="194B7A"/>
                </a:solidFill>
              </a:rPr>
              <a:t>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E61D0-C4F3-44A2-96D3-50522009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每个 token 选择的专家数，即 expertIds.shape[1]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EA4268-0499-4166-8AB2-0D2797C4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3A0A46-F7A8-4A40-9431-52070174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94B7A"/>
                </a:solidFill>
              </a:defRPr>
            </a:pPr>
            <a:r>
              <a:rPr sz="1350" b="1">
                <a:solidFill>
                  <a:srgbClr val="194B7A"/>
                </a:solidFill>
              </a:rPr>
              <a:t>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372AEF-4F7D-48BD-8283-0BE2E1E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4861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本 rank 输出侧最大 token 容量，用于 expandXOut 和辅助信息 shape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B2ED5A-8868-422A-ABB8-96095F4C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8C588E-A6C3-4F0B-8F8A-F244BD69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38300"/>
            <a:ext cx="87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94B7A"/>
                </a:solidFill>
              </a:defRPr>
            </a:pPr>
            <a:r>
              <a:rPr sz="1350" b="1">
                <a:solidFill>
                  <a:srgbClr val="194B7A"/>
                </a:solidFill>
              </a:rPr>
              <a:t>maxBS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AB1BB3-29CE-4767-B92A-8803EF8B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0020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EP 域内单 rank 最大 BS；globalBS 为 EP 域总 BS，等于 maxBS * epWorldSize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87C927-C92D-4E26-B083-D2D63789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3360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D5888-B92C-4BBC-A837-0131CA6E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6695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88" b="1">
                <a:solidFill>
                  <a:srgbClr val="194B7A"/>
                </a:solidFill>
              </a:defRPr>
            </a:pPr>
            <a:r>
              <a:rPr sz="1088" b="1">
                <a:solidFill>
                  <a:srgbClr val="194B7A"/>
                </a:solidFill>
              </a:rPr>
              <a:t>epWorldSize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8ADD24-E95C-4AFF-B07C-4EAB3BE6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288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EP 通信域 rank 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FAC72F-ED3A-461C-B657-28706046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66A34B-C428-4FAC-A8D4-FAE1DCFD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9560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88" b="1">
                <a:solidFill>
                  <a:srgbClr val="194B7A"/>
                </a:solidFill>
              </a:defRPr>
            </a:pPr>
            <a:r>
              <a:rPr sz="1088" b="1">
                <a:solidFill>
                  <a:srgbClr val="194B7A"/>
                </a:solidFill>
              </a:rPr>
              <a:t>localMoeExpertNum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729367-1703-4BF6-80C3-0318F469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5750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普通 MoE rank 本地专家数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4CD398-1C85-49BC-9815-4854C771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900"/>
            <a:ext cx="495300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DBD6AE-EDF7-4A90-AB6D-1D182465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524250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88" b="1">
                <a:solidFill>
                  <a:srgbClr val="194B7A"/>
                </a:solidFill>
              </a:defRPr>
            </a:pPr>
            <a:r>
              <a:rPr sz="1088" b="1">
                <a:solidFill>
                  <a:srgbClr val="194B7A"/>
                </a:solidFill>
              </a:rPr>
              <a:t>rankNumPerSharedExpert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5B347-2CAA-4A2B-85DA-A30FCF1A6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861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044"/>
                </a:solidFill>
              </a:defRPr>
            </a:pPr>
            <a:r>
              <a:rPr sz="1125" b="0">
                <a:solidFill>
                  <a:srgbClr val="243044"/>
                </a:solidFill>
              </a:rPr>
              <a:t>一个共享专家对应的 rank 副本数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CDA8A8-561A-4DAB-B5A2-821DBD80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8191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C7D7E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9251B0-585E-4EE9-B93F-3E0863ED3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434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4B7A"/>
                </a:solidFill>
              </a:defRPr>
            </a:pPr>
            <a:r>
              <a:rPr sz="1650" b="1">
                <a:solidFill>
                  <a:srgbClr val="194B7A"/>
                </a:solidFill>
              </a:rPr>
              <a:t>后续公式默认使用上面符号。变量第一次出现时先解释，避免只给公式。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0F740B-F768-4093-ACC3-0648A58C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1989656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E719C7-67A5-4CB5-8929-910EA0D1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6F30B-427A-4A82-B887-2BC207B5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A 的核心计算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068F2-D5AE-44DD-987C-BF5915C2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D8C08-C6F5-407D-B287-A0F31F29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9D82B-AAA6-4467-9EEA-9E545604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044"/>
                </a:solidFill>
              </a:defRPr>
            </a:pPr>
            <a:r>
              <a:rPr sz="1575" b="0">
                <a:solidFill>
                  <a:srgbClr val="243044"/>
                </a:solidFill>
              </a:rPr>
              <a:t>A 表示本 rank 输出侧最大 token 容量。Host InferShape 和 Tiling 都围绕 A 校验输出容量。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B7C039-164A-4281-A229-9B2EC90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098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4B7A"/>
                </a:solidFill>
              </a:defRPr>
            </a:pPr>
            <a:r>
              <a:rPr sz="1800" b="1">
                <a:solidFill>
                  <a:srgbClr val="194B7A"/>
                </a:solidFill>
              </a:rPr>
              <a:t>共享专家 rank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BC3167-4E09-4B31-BEFE-973D50E7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102870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DF1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75472-FBB6-48EB-8B77-6EA9307E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8130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 = maxBS * ceil(epWorldSize / rankNumPerSharedExpert)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67ED2C-5B47-40F7-BD06-70426E6D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962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含义：共享专家可能被多个 rank 复制，A 按共享专家复制组的最大接收容量计算。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B9967C-F244-4C47-9B82-C3D19ED9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87A54"/>
                </a:solidFill>
              </a:defRPr>
            </a:pPr>
            <a:r>
              <a:rPr sz="1800" b="1">
                <a:solidFill>
                  <a:srgbClr val="287A54"/>
                </a:solidFill>
              </a:rPr>
              <a:t>普通 MoE rank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6027DF-E08A-4064-A751-F35346C1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72390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EDF1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0F4ACC-721C-4F3E-B3D8-BA75CCC7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482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 = globalBS * min(localMoeExpertNum, K)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B8B011-96EE-43C7-BFA7-AF2C95BC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14950"/>
            <a:ext cx="952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含义：普通专家 rank 最多接收 globalBS 个 token 中路由到本地专家的部分。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EC3D5-948A-4995-BD2B-9B5B94F71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7635718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A21095-F571-4856-8CEA-2267395B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7C57A-3555-422A-A36C-B0C9C76D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A5 分支选择：commAlg 决定路径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76A6B-2D82-4506-AE3C-6F2736B3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751B1-DDB3-477D-A20E-E17DC8CA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EF8AA-AE10-41EC-A932-F18A1937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77875-6B33-403A-8501-4DF69354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669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Platform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DE3A0-B4E4-4109-92F8-05F5150F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DAV_3510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Ascend 950DT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97B50-D7D2-4876-B570-C21A2CDB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5AEFD-6DD0-4C0E-9FA8-C98EF8AE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336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0C041-860E-4CBF-B11B-BB081891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4765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5F6CD-0541-479C-8AAC-EBCCD4EF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6537F4-CB6C-4097-80A5-37E0806F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6695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commAlg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9FF63-8B93-469F-9556-DEA51ABF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5717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ccu / empty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fullmesh_v1/v2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A87DD-9664-48AB-9687-3D80FC7F9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DE7A8C-E132-4CA2-8933-253FC6F0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3365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098BA6-C14F-46A0-B6F0-C2361C51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7650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B5EC9-A5E7-474C-820B-E4C06DEE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4476750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294AE3-CA6E-41B4-B393-98C2816F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F5BE9-495F-434F-9760-D4366DF3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809750"/>
            <a:ext cx="405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CCU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4224EA-35B3-4E32-92C5-ACD4F64F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71700"/>
            <a:ext cx="405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commAlg=ccu：A5 专用 Host Tiling，Device 走 MoeDistributeDispatchA5。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6FDEE7-641D-45FA-B242-7590CB6C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4476750" cy="10477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C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32D936-D25A-40CD-8C51-39E9A96E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1F1F60-485F-44BE-8920-BB5A09EE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95650"/>
            <a:ext cx="405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MTE / fullmesh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FB50BD-9255-47F0-85E4-EC455445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57600"/>
            <a:ext cx="4057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非 ccu：A5 复用 V2 / FullMesh MC2 模板，执行 V3 扩展路径。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AF0FB-7273-4886-BE16-546E7CC3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0057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DE10EC-58CD-410F-9F87-BEB64B74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7029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43044"/>
                </a:solidFill>
              </a:defRPr>
            </a:pPr>
            <a:r>
              <a:rPr sz="1425" b="0">
                <a:solidFill>
                  <a:srgbClr val="243044"/>
                </a:solidFill>
              </a:rPr>
              <a:t>API 层通过 NpuArch::DAV_3510 判断 A5。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F6D928-67C9-4E53-AEDD-CC16E587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00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942EDD-84FC-45CC-84E0-58F6AD0F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760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243044"/>
                </a:solidFill>
              </a:defRPr>
            </a:pPr>
            <a:r>
              <a:rPr sz="1425" b="0">
                <a:solidFill>
                  <a:srgbClr val="243044"/>
                </a:solidFill>
              </a:rPr>
              <a:t>Device 编译期通过 __NPU_ARCH__ == 3510 选择 A5 模板。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F1D468-2BE6-4A58-94FC-D3B33CA6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403929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8EB0AA-6749-4275-87F3-8F6E083B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03501-624F-4DF9-9BF0-6FD0C8FD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Host Tiling：固定拓扑、容量和窗口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A4BEF9-3B3B-4B60-9574-EED21393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0CE78-7B53-4411-9B90-C88CB0F50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544B83-C3C9-4DEF-9615-13A58C29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38300" cy="1504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07109-BFEC-488E-93BE-9381F8DB3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1638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0D722-C1D3-456B-866F-D595DA0E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4B7A"/>
                </a:solidFill>
              </a:defRPr>
            </a:pPr>
            <a:r>
              <a:rPr sz="1800" b="1">
                <a:solidFill>
                  <a:srgbClr val="194B7A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C93A6-8A2E-4A2C-BEFF-AD544901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Attrs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8035F-9A20-4BDF-887D-4BA765AA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098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读取 EP/TP、专家、shared expert、quantMode、globalBS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ACA135-AEF6-44B2-9AD8-CC3CF5A4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1638300" cy="1504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2834E-F78D-43CB-A662-52847CEE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1638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0E199-1367-44C5-A348-8F76650A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66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8B8D"/>
                </a:solidFill>
              </a:defRPr>
            </a:pPr>
            <a:r>
              <a:rPr sz="1800" b="1">
                <a:solidFill>
                  <a:srgbClr val="0F8B8D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FB89F-0435-4E0E-A596-F2C86F06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66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Shape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40FC87-D963-4206-AE56-39EB2EAA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098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校验 x/expertIds/scales/output 的维度和 dtype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416104-D5AC-4B95-AB91-20864E34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00200"/>
            <a:ext cx="1638300" cy="1504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29742-9879-4198-B608-2A6FC861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00200"/>
            <a:ext cx="1638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164F4D-4760-45C1-9820-BCFF478B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866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87A54"/>
                </a:solidFill>
              </a:defRPr>
            </a:pPr>
            <a:r>
              <a:rPr sz="1800" b="1">
                <a:solidFill>
                  <a:srgbClr val="287A54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98BBB-CFB9-4DD4-9BB9-655598E2F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66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Capacity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E77F57-13EA-4C90-B91B-047278C4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6098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计算 localMoeExpertNum、A、maxBS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623FBA-DB1E-42E2-BD13-04D3095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00200"/>
            <a:ext cx="1638300" cy="1504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D68411-DBEF-44D2-9332-589F271A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00200"/>
            <a:ext cx="1638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4CBC9A-78B5-49DC-B01B-5BEE0577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66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97812"/>
                </a:solidFill>
              </a:defRPr>
            </a:pPr>
            <a:r>
              <a:rPr sz="1800" b="1">
                <a:solidFill>
                  <a:srgbClr val="B97812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3BCA94-B614-40C9-A8A0-773B84D0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66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Workspace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D545A1-2B25-4AA7-BF09-F597BC19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098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按 token 布局估算 workspace 和通信窗口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7C4AFD-DD9F-48D7-8F31-CF517749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600200"/>
            <a:ext cx="1638300" cy="1504950"/>
          </a:xfrm>
          <a:prstGeom xmlns:a="http://schemas.openxmlformats.org/drawingml/2006/main" prst="roundRect">
            <a:avLst>
              <a:gd name="adj" fmla="val 25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6130E-C14B-4BB9-A1F8-5674562E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600200"/>
            <a:ext cx="1638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3D3D"/>
          </a:solidFill>
          <a:ln xmlns:a="http://schemas.openxmlformats.org/drawingml/2006/main" w="0">
            <a:solidFill>
              <a:srgbClr val="A43D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B743B4-9C2C-4096-8578-42A99CD2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669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43D3D"/>
                </a:solidFill>
              </a:defRPr>
            </a:pPr>
            <a:r>
              <a:rPr sz="1800" b="1">
                <a:solidFill>
                  <a:srgbClr val="A43D3D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8A9354-2ACB-4912-8A81-69768D16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266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TilingKey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D99496-C2D4-4DC4-91C7-05EF82575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6098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编码 Arch=A5、CommMode、QuantMode、ScaleMode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A029E2-F5AC-4832-A177-DF5C0202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10363200" cy="10858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C7D7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637D0F-662A-47F5-9F6D-C545825F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24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94B7A"/>
                </a:solidFill>
              </a:defRPr>
            </a:pPr>
            <a:r>
              <a:rPr sz="1800" b="1">
                <a:solidFill>
                  <a:srgbClr val="194B7A"/>
                </a:solidFill>
              </a:rPr>
              <a:t>窗口检查重点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283FAE-CECD-4A9C-B334-35501A1A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05350"/>
            <a:ext cx="9620250" cy="5143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DF1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0E880D-396A-419D-9526-C38ADCBF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76800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actualSize = aivNum * 512 + 2 * epWorldSize * (maxBS * Align512(alignedH * 2) * localMoeExpertNum + 512)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816939-4BBE-4E2C-B1C2-849B8987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353050"/>
            <a:ext cx="933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B667A"/>
                </a:solidFill>
              </a:defRPr>
            </a:pPr>
            <a:r>
              <a:rPr sz="1200" b="0">
                <a:solidFill>
                  <a:srgbClr val="5B667A"/>
                </a:solidFill>
              </a:rPr>
              <a:t>alignedH 会受量化模式影响；MX / per-group 需要更大的对齐和 scale 空间。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1E706B-27EE-4D48-92E4-23F76254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2530561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3A8B93-0C7D-4EDA-B8FD-46F4F37D5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D7B59-76C6-49DE-8798-309FBAE4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Host 侧关键约束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91474-0E0A-4593-B670-872BFF19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B51A2-3BEE-4E26-BE83-9ED1470B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663D8-DCE8-4A03-B922-850B6AA6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1C351-EC60-4C9A-907B-0FD107A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621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3D3D"/>
          </a:solidFill>
          <a:ln xmlns:a="http://schemas.openxmlformats.org/drawingml/2006/main" w="0">
            <a:solidFill>
              <a:srgbClr val="A43D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3DE24-640C-44E6-9800-29B857D8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5260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TP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7B1BC-51D4-410A-B306-5455A461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A5 CCU 当前要求 tpWorldSize = 1；不支持 TP 输出。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41B73-8B0F-4CB0-AFEE-8DA87CC1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6210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6F7F42-07AB-46CE-83F1-CB7C7516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621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A03CD9-5D60-44FD-9BF8-F65E7632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5260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BS / H / 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BB3BDF-42E7-47A9-AF06-A668E50D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145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BS ≤ 512，H ∈ [1024, 8192]，K ≤ 16。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1A884C-AEC2-442C-8612-20C36E96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6210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C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244443-AE39-48CB-B1DA-9C24873F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621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4B3BC-ED7A-4A6E-BC43-B75CE413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5260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expert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36917A-2BFF-4236-AA7A-2D5B087D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145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moeExpertNum 必须可被 moeRankNum 整除。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2EB6F1-3EC2-4438-8CA9-D5C0FE23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E6F8B2-8F57-4CF7-998A-2FE2522C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EA2D5D-2322-4BB0-AE1E-3DCEE40B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globalBS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EF5494-A6D8-41C1-9297-09A3AA4A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0 或 maxBS * epWorldSize；不同 rank BS 需显式传 maxBS。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CACE8F-8734-4191-887A-355715D6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4325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7F7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5ED119-F24C-4227-8814-3A03543E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143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E3D0C-7A10-43D7-92F1-14C4B227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3337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xActiveMask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2AD35-67F6-4994-A558-BC9DCAFD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仅支持 1D bool；Device 侧按 true 数量截取前缀 token。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71395-B3A8-4A19-9D53-58CEA709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33337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45ED4C-6097-4F72-B78A-3A944850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432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ED1DD0-4E3D-4CD1-9F63-60BB6175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33750"/>
            <a:ext cx="2914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quant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1654CB-696D-4A80-96B0-19628413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69570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quantMode 与 expandX dtype 严格映射，决定 scale shape。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71119E-1ECC-43BC-92F8-FB647FE5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7038526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DD3F5C-2CD7-4D60-BE2C-98DFC8D2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3F751-59B9-4186-B355-69FE63BC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Device CCU 主流程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02C46-1647-4D8E-A7E8-EBF4ABEB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4ECC0-7CD9-4FF3-909C-61E5597FE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92D87-8310-4B67-94BB-6CA0C510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84121-F82F-4B41-94E9-C25DC767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Init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9CD54-6252-4E80-A43A-DDD827CB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绑定 GM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计算 perTokenCommSize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30353-63BB-40F1-A5D3-809085FD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141E3-6F81-4FAD-9616-00AE3328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289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D9918-12B7-48C3-862C-C88D38D3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7175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ED3A2-416B-4504-B93D-AC425E0F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14F84-3A4A-4062-A424-7CBBA406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622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Mask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6EC56-A534-43E0-8600-1AE6006E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6670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可选求 activeBs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D35A7E-36B9-485D-8F4E-1DD98AC8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6A5BD-F652-4CEE-8151-F7DE8F3D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6289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5E2208-200E-4F9D-81D7-118BB87D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7175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51CEA9-8F5E-4A6C-BBCF-01380122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9075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5369C-7B7B-49FD-80BD-3AFCFA85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622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Scatter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F9348-51EB-418E-A40A-964B87B91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670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排序统计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打包 token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AF537D-D255-4995-BBE3-EA77BD5E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90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601E3-992F-48C2-B07B-D2AD5462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289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121B57-D3C3-4A6A-9508-13416327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7175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37DBC3-361C-415F-BEE0-D8461142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FA2171-95CE-49DE-8D90-DEA6898E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AllToAllV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0D7B3D-FADB-4A79-B45B-4964AB4E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AIV0 发起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CCU 通信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C08A6-9C20-49EA-9706-DEE5D714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90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795DFD-63B0-49B4-B933-5EBB44E3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28900"/>
            <a:ext cx="323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AEE476-A491-4C82-8D46-BD1A589E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71750"/>
            <a:ext cx="1143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3F64FD-AE4E-40B4-8BA6-4D1FCAE4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90750"/>
            <a:ext cx="1695450" cy="9144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B0C2C4-5B81-4170-96D8-D125304D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3622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Gather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551887-F9B3-4E53-A45F-C4456979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6700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重排到</a:t>
            </a:r>
          </a:p>
          <a:p xmlns:a="http://schemas.openxmlformats.org/drawingml/2006/main">
            <a:pPr>
              <a:defRPr sz="1013" b="0">
                <a:solidFill>
                  <a:srgbClr val="5B667A"/>
                </a:solidFill>
              </a:defRPr>
            </a:pPr>
            <a:r>
              <a:rPr sz="1013" b="0">
                <a:solidFill>
                  <a:srgbClr val="5B667A"/>
                </a:solidFill>
              </a:rPr>
              <a:t>expandXOut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4B3A76-77E2-4B27-8454-91E14615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90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356B18-6E96-4D12-8AC7-0F3CCED6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1005840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CF6EF"/>
          </a:solidFill>
          <a:ln xmlns:a="http://schemas.openxmlformats.org/drawingml/2006/main" w="9525">
            <a:solidFill>
              <a:srgbClr val="C5E3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D32F7F-5701-4FDC-B65E-D5042720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624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87A54"/>
                </a:solidFill>
              </a:defRPr>
            </a:pPr>
            <a:r>
              <a:rPr sz="1800" b="1">
                <a:solidFill>
                  <a:srgbClr val="287A54"/>
                </a:solidFill>
              </a:rPr>
              <a:t>输出写回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86006-BF19-4FEB-8CE8-2C2DE823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838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expandXOut、dynamicScalesOut、expertTokenNumsOut、epRecvCountsOut。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4D74EF-45DD-4CF2-B136-032D9D02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4994755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06D603-39A7-49F2-A4A8-FC790569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51A2B-39C6-4DF6-98DE-4772E265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量化与通信打包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94292-48FE-4C8F-80CB-A3A81CB9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0597D-01CE-4CBA-8119-6880E27D0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863CA-92C6-4B4D-B2A2-754FCDA5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4953000" cy="8763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AF2F8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EEB3F-BEBE-49D4-8495-8CF11241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ABA6F-08D3-4532-85D1-0520EE53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1925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非量化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64EF34-BC24-4C00-BCAB-D139F01D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8120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token 数据直接打包；低精度输入可追加 input scale。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8BA17-D7A4-4F92-A278-F0FAF7D9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4953000" cy="8763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6E5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BA431-772E-49D7-9980-92EE886E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68B15-C789-4E4F-9038-8639D71FA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1925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静态量化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EDC4D2-8E43-493B-AD91-AC7AAFA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8120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CastToFp32 × scales，再 Cast 到 INT8 或 HIFLOAT8。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F7741-B31F-44BB-BB5E-B9C1C6FC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953000" cy="8763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AF7F7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F463CF-C51B-4D69-A7CC-C3BC59C3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61AA7-EF0A-4376-9D46-B302CE83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7180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per-token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327AB-A6CC-4295-BB90-FE2CEFC1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337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每个 token 追加 1 个 float scale，dynamicScalesOut 为 (A,)。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DC4CA1-F1BA-46D7-B88D-37F620A2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953000" cy="8763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C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4E8FE8-C36B-4B68-BBFA-CC6F8C02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D58E3A-9E72-431B-9641-9ED21041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per-group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B0858-7DDF-4D39-87FC-282A29D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3375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按 Align128(H) 存 token，追加 ceil(H/128) 个 scale。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A0CD45-6695-4076-92ED-52FD28BF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953000" cy="8763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1F1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BE0033-0864-467A-8D50-56A01277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3D3D"/>
          </a:solidFill>
          <a:ln xmlns:a="http://schemas.openxmlformats.org/drawingml/2006/main" w="0">
            <a:solidFill>
              <a:srgbClr val="A43D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0295AD-887C-4DBD-B2DF-1D1D795B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24350"/>
            <a:ext cx="453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MX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BCA402-F0AD-4FFA-82D5-84F89DD9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453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B667A"/>
                </a:solidFill>
              </a:defRPr>
            </a:pPr>
            <a:r>
              <a:rPr sz="1275" b="0">
                <a:solidFill>
                  <a:srgbClr val="5B667A"/>
                </a:solidFill>
              </a:rPr>
              <a:t>按 Align256(H) 存 token，追加 even(ceil(H/32)) 个 e8m0 scale。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C40FC1-AC85-4070-AA82-B5011441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24350"/>
            <a:ext cx="4953000" cy="5524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DF1F6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D6F403-B996-4187-AFCC-912E10F1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958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通信粒度 = Align512(perTokenMergeSize)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3A44D-041C-4054-81DC-0AFC2A1A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0024230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EC2B4C-BA88-4291-A94F-475AD8EE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F8B8D"/>
                </a:solidFill>
              </a:defRPr>
            </a:pPr>
            <a:r>
              <a:rPr sz="975" b="1">
                <a:solidFill>
                  <a:srgbClr val="0F8B8D"/>
                </a:solidFill>
              </a:rPr>
              <a:t>MoeDistributeDispatchV2 / A5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3F661-6C40-4C1F-8D50-28F735BC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结论与使用注意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88EBFF-5851-4A9B-99B2-EBF2586F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D8DE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46E53-B85F-4BC3-BA00-2C540235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457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5B667A"/>
                </a:solidFill>
              </a:defRPr>
            </a:pPr>
            <a:r>
              <a:rPr sz="900" b="1">
                <a:solidFill>
                  <a:srgbClr val="5B667A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7C452-326B-44BC-8537-976C73B8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71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8D"/>
          </a:solidFill>
          <a:ln xmlns:a="http://schemas.openxmlformats.org/drawingml/2006/main" w="0">
            <a:solidFill>
              <a:srgbClr val="0F8B8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5DECC-0FAE-4D8C-B921-FCB631F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85900"/>
            <a:ext cx="969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A5 分支核心价值：在 Dispatch 阶段完成专家路由、量化打包和 EP 域可变长通信。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9EB76-5330-4B1E-A62B-BA47B690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193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4B7A"/>
          </a:solidFill>
          <a:ln xmlns:a="http://schemas.openxmlformats.org/drawingml/2006/main" w="0">
            <a:solidFill>
              <a:srgbClr val="194B7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1F0363-CD99-4123-AD3A-FBD04265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33600"/>
            <a:ext cx="969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CCU 路径更专用：Host 生成 A5/CCU tiling，Device 走 MoeDistributeDispatchA5。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11615E-2785-40D2-B532-8C1033FE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67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7812"/>
          </a:solidFill>
          <a:ln xmlns:a="http://schemas.openxmlformats.org/drawingml/2006/main" w="0">
            <a:solidFill>
              <a:srgbClr val="B9781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6CDE80-7225-4BA4-B558-23EB3D9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81300"/>
            <a:ext cx="969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容量与窗口是主要风险：A、maxBS、localMoeExpertNum、H 和 scale 布局共同决定 window 需求。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6F6D3-4AA6-41DB-AC58-4F6065D6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14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A54"/>
          </a:solidFill>
          <a:ln xmlns:a="http://schemas.openxmlformats.org/drawingml/2006/main" w="0">
            <a:solidFill>
              <a:srgbClr val="287A5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F510F-809A-438E-8BB0-48DA9BE1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969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辅助输出只服务 CombineV2：assistInfoForCombineOut、epRecvCountsOut 等不建议业务解析。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8C439-9AEA-496A-A20B-B408F4EE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624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3D3D"/>
          </a:solidFill>
          <a:ln xmlns:a="http://schemas.openxmlformats.org/drawingml/2006/main" w="0">
            <a:solidFill>
              <a:srgbClr val="A43D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D4C73-6EAD-4D54-B2C5-72B6DAF6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969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044"/>
                </a:solidFill>
              </a:defRPr>
            </a:pPr>
            <a:r>
              <a:rPr sz="1500" b="0">
                <a:solidFill>
                  <a:srgbClr val="243044"/>
                </a:solidFill>
              </a:rPr>
              <a:t>当前 A5 CCU 不支持 TP 通信；xActiveMask 只适合前缀有效 token 场景。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640012-E3CA-4FD9-9556-3B7834AD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43500"/>
            <a:ext cx="3143250" cy="7239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EAF7F7"/>
          </a:solidFill>
          <a:ln xmlns:a="http://schemas.openxmlformats.org/drawingml/2006/main" w="9525">
            <a:solidFill>
              <a:srgbClr val="BFE4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6720DB-10D3-4495-9C2F-E99EBCD9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3149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F8B8D"/>
                </a:solidFill>
              </a:defRPr>
            </a:pPr>
            <a:r>
              <a:rPr sz="1500" b="1">
                <a:solidFill>
                  <a:srgbClr val="0F8B8D"/>
                </a:solidFill>
              </a:rPr>
              <a:t>一句话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509C3E-3E34-48B3-A682-6D650BF4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007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243044"/>
                </a:solidFill>
              </a:defRPr>
            </a:pPr>
            <a:r>
              <a:rPr sz="1200" b="0">
                <a:solidFill>
                  <a:srgbClr val="243044"/>
                </a:solidFill>
              </a:rPr>
              <a:t>Host 定容量，Device 做路由通信。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341A8F-B326-49F4-AD23-42C5DBB0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723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13" b="0">
                <a:solidFill>
                  <a:srgbClr val="7C8798"/>
                </a:solidFill>
              </a:defRPr>
            </a:pPr>
            <a:r>
              <a:rPr sz="713" b="0">
                <a:solidFill>
                  <a:srgbClr val="7C8798"/>
                </a:solidFill>
              </a:rPr>
              <a:t>Source: generated analysis markdown</a:t>
            </a:r>
          </a:p>
        </p:txBody>
      </p:sp>
    </p:spTree>
    <p:extLst>
      <p:ext uri="{BB962C8B-B14F-4D97-AF65-F5344CB8AC3E}">
        <p14:creationId xmlns:p14="http://schemas.microsoft.com/office/powerpoint/2010/main" val="19576980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2026-06-19T16:34:24.6290000Z</dcterms:created>
  <dcterms:modified xsi:type="dcterms:W3CDTF">2026-06-19T16:34:24.6290000Z</dcterms:modified>
</coreProperties>
</file>