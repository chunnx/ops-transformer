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a231b2ff04686" /><Relationship Type="http://schemas.openxmlformats.org/officeDocument/2006/relationships/extended-properties" Target="/docProps/app.xml" Id="Rbe2ad89da0f143d8" /><Relationship Type="http://schemas.openxmlformats.org/officeDocument/2006/relationships/officeDocument" Target="/ppt/presentation.xml" Id="R8c4895bb3431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16893227a4a27"/>
  </p:sldMasterIdLst>
  <p:notesMasterIdLst>
    <p:notesMasterId xmlns:r="http://schemas.openxmlformats.org/officeDocument/2006/relationships" r:id="R0b5a1e1d6a2548f1"/>
  </p:notesMasterIdLst>
  <p:sldIdLst>
    <p:sldId xmlns:r="http://schemas.openxmlformats.org/officeDocument/2006/relationships" id="256" r:id="R535e982954d842fb"/>
    <p:sldId xmlns:r="http://schemas.openxmlformats.org/officeDocument/2006/relationships" id="257" r:id="R60df34189f4b4b90"/>
    <p:sldId xmlns:r="http://schemas.openxmlformats.org/officeDocument/2006/relationships" id="258" r:id="R386b949a4d2943c2"/>
    <p:sldId xmlns:r="http://schemas.openxmlformats.org/officeDocument/2006/relationships" id="259" r:id="R731017e91b074d88"/>
    <p:sldId xmlns:r="http://schemas.openxmlformats.org/officeDocument/2006/relationships" id="260" r:id="R531fe27b017b4c05"/>
    <p:sldId xmlns:r="http://schemas.openxmlformats.org/officeDocument/2006/relationships" id="261" r:id="R748b6f4e8ee94140"/>
    <p:sldId xmlns:r="http://schemas.openxmlformats.org/officeDocument/2006/relationships" id="262" r:id="R30647f1cc28c4ba0"/>
    <p:sldId xmlns:r="http://schemas.openxmlformats.org/officeDocument/2006/relationships" id="263" r:id="R1cb282847fab4d38"/>
    <p:sldId xmlns:r="http://schemas.openxmlformats.org/officeDocument/2006/relationships" id="264" r:id="R0e1dd98fd9144149"/>
    <p:sldId xmlns:r="http://schemas.openxmlformats.org/officeDocument/2006/relationships" id="265" r:id="R54b71d27d7b74f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d5accb5bc4150" /><Relationship Type="http://schemas.openxmlformats.org/officeDocument/2006/relationships/slideMaster" Target="/ppt/slideMasters/slideMaster1.xml" Id="R15a16893227a4a27" /><Relationship Type="http://schemas.openxmlformats.org/officeDocument/2006/relationships/notesMaster" Target="/ppt/notesMasters/notesMaster1.xml" Id="R0b5a1e1d6a2548f1" /><Relationship Type="http://schemas.openxmlformats.org/officeDocument/2006/relationships/presProps" Target="/ppt/presProps.xml" Id="Rc0dbed5b8b084330" /><Relationship Type="http://schemas.openxmlformats.org/officeDocument/2006/relationships/tableStyles" Target="/ppt/tableStyles.xml" Id="R2297837d91044e1c" /><Relationship Type="http://schemas.openxmlformats.org/officeDocument/2006/relationships/slide" Target="/ppt/slides/slide1.xml" Id="R535e982954d842fb" /><Relationship Type="http://schemas.openxmlformats.org/officeDocument/2006/relationships/slide" Target="/ppt/slides/slide2.xml" Id="R60df34189f4b4b90" /><Relationship Type="http://schemas.openxmlformats.org/officeDocument/2006/relationships/slide" Target="/ppt/slides/slide3.xml" Id="R386b949a4d2943c2" /><Relationship Type="http://schemas.openxmlformats.org/officeDocument/2006/relationships/slide" Target="/ppt/slides/slide4.xml" Id="R731017e91b074d88" /><Relationship Type="http://schemas.openxmlformats.org/officeDocument/2006/relationships/slide" Target="/ppt/slides/slide5.xml" Id="R531fe27b017b4c05" /><Relationship Type="http://schemas.openxmlformats.org/officeDocument/2006/relationships/slide" Target="/ppt/slides/slide6.xml" Id="R748b6f4e8ee94140" /><Relationship Type="http://schemas.openxmlformats.org/officeDocument/2006/relationships/slide" Target="/ppt/slides/slide7.xml" Id="R30647f1cc28c4ba0" /><Relationship Type="http://schemas.openxmlformats.org/officeDocument/2006/relationships/slide" Target="/ppt/slides/slide8.xml" Id="R1cb282847fab4d38" /><Relationship Type="http://schemas.openxmlformats.org/officeDocument/2006/relationships/slide" Target="/ppt/slides/slide9.xml" Id="R0e1dd98fd9144149" /><Relationship Type="http://schemas.openxmlformats.org/officeDocument/2006/relationships/slide" Target="/ppt/slides/slide10.xml" Id="R54b71d27d7b74f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7d5b426ef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35c209c5a4e26" /><Relationship Type="http://schemas.openxmlformats.org/officeDocument/2006/relationships/notesMaster" Target="/ppt/notesMasters/notesMaster1.xml" Id="R0348aa3a470f40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f602b2d43d4fe3" /><Relationship Type="http://schemas.openxmlformats.org/officeDocument/2006/relationships/notesMaster" Target="/ppt/notesMasters/notesMaster1.xml" Id="R369b7340f1bc42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c8424c8ec45ef" /><Relationship Type="http://schemas.openxmlformats.org/officeDocument/2006/relationships/notesMaster" Target="/ppt/notesMasters/notesMaster1.xml" Id="R1b2a5c75234c44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79099513246a7" /><Relationship Type="http://schemas.openxmlformats.org/officeDocument/2006/relationships/notesMaster" Target="/ppt/notesMasters/notesMaster1.xml" Id="R41b7234fc52c43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d7a87355b428b" /><Relationship Type="http://schemas.openxmlformats.org/officeDocument/2006/relationships/notesMaster" Target="/ppt/notesMasters/notesMaster1.xml" Id="R1c5cc60f1ec246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2f41681644cf4" /><Relationship Type="http://schemas.openxmlformats.org/officeDocument/2006/relationships/notesMaster" Target="/ppt/notesMasters/notesMaster1.xml" Id="Rf318f8779f7f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48612c70340cc" /><Relationship Type="http://schemas.openxmlformats.org/officeDocument/2006/relationships/notesMaster" Target="/ppt/notesMasters/notesMaster1.xml" Id="R6f6d8e5564e749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9011dce884356" /><Relationship Type="http://schemas.openxmlformats.org/officeDocument/2006/relationships/notesMaster" Target="/ppt/notesMasters/notesMaster1.xml" Id="R6ed29cfc5730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e8fbae5e7d4456" /><Relationship Type="http://schemas.openxmlformats.org/officeDocument/2006/relationships/notesMaster" Target="/ppt/notesMasters/notesMaster1.xml" Id="R81c33da7898e48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6a4430bd4b4513" /><Relationship Type="http://schemas.openxmlformats.org/officeDocument/2006/relationships/notesMaster" Target="/ppt/notesMasters/notesMaster1.xml" Id="Rc84593fdd53046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3a5278f95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3484106d04e90" /><Relationship Type="http://schemas.openxmlformats.org/officeDocument/2006/relationships/slideLayout" Target="/ppt/slideLayouts/slideLayout1.xml" Id="R970f48f387c847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f48f387c847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5e02a56df46c4" /><Relationship Type="http://schemas.openxmlformats.org/officeDocument/2006/relationships/notesSlide" Target="/ppt/notesSlides/notesSlide1.xml" Id="Rd7d576b1c1f8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fcd5968424c22" /><Relationship Type="http://schemas.openxmlformats.org/officeDocument/2006/relationships/notesSlide" Target="/ppt/notesSlides/notesSlide2.xml" Id="Re20d2b586df648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be8d28a3f4f65" /><Relationship Type="http://schemas.openxmlformats.org/officeDocument/2006/relationships/notesSlide" Target="/ppt/notesSlides/notesSlide3.xml" Id="R2d6e001660274d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93ba589a04418" /><Relationship Type="http://schemas.openxmlformats.org/officeDocument/2006/relationships/notesSlide" Target="/ppt/notesSlides/notesSlide4.xml" Id="R7c2ea554ca39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50092cc7649d0" /><Relationship Type="http://schemas.openxmlformats.org/officeDocument/2006/relationships/notesSlide" Target="/ppt/notesSlides/notesSlide5.xml" Id="R8e3fbc2698a249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0fb8ac62049f7" /><Relationship Type="http://schemas.openxmlformats.org/officeDocument/2006/relationships/notesSlide" Target="/ppt/notesSlides/notesSlide6.xml" Id="R6d84e31c550847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18769b3f44f67" /><Relationship Type="http://schemas.openxmlformats.org/officeDocument/2006/relationships/notesSlide" Target="/ppt/notesSlides/notesSlide7.xml" Id="Rc27a29f5c91b4e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7c903e94445f7" /><Relationship Type="http://schemas.openxmlformats.org/officeDocument/2006/relationships/notesSlide" Target="/ppt/notesSlides/notesSlide8.xml" Id="R428a7b22c29d45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e999b76dd4478" /><Relationship Type="http://schemas.openxmlformats.org/officeDocument/2006/relationships/notesSlide" Target="/ppt/notesSlides/notesSlide9.xml" Id="R29af9ba99d3244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40acc8434663" /><Relationship Type="http://schemas.openxmlformats.org/officeDocument/2006/relationships/notesSlide" Target="/ppt/notesSlides/notesSlide10.xml" Id="R22157709b78142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3382C-50F5-4176-AFAA-58DDE7F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C166D-79D3-40C3-AA5B-E2D62269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MoeDistributeDispatchV2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14726-2A93-4ABE-8098-8DC55A1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A63"/>
                </a:solidFill>
              </a:defRPr>
            </a:pPr>
            <a:r>
              <a:rPr sz="2250" b="1">
                <a:solidFill>
                  <a:srgbClr val="203A63"/>
                </a:solidFill>
              </a:rPr>
              <a:t>A5 分支算子功能与实现总结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7FD19-3B2D-4F0C-92D0-D8E1AC5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475"/>
                </a:solidFill>
              </a:defRPr>
            </a:pPr>
            <a:r>
              <a:rPr sz="1500" b="0">
                <a:solidFill>
                  <a:srgbClr val="5A6475"/>
                </a:solidFill>
              </a:rPr>
              <a:t>面向 Ascend David V100/V120（代码中 DAV_3510 / Ascend 950DT）的 Host Tiling 与 Device 侧主流程。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8DD3C-F8DB-441B-86B3-43ED2BE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76300"/>
            <a:ext cx="3124200" cy="400050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C8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1642B-620C-4DFD-9325-21E5F15B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52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A63"/>
                </a:solidFill>
              </a:defRPr>
            </a:pPr>
            <a:r>
              <a:rPr sz="2250" b="1">
                <a:solidFill>
                  <a:srgbClr val="203A63"/>
                </a:solidFill>
              </a:rPr>
              <a:t>Dispatch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CA4FB-D585-4EDF-B14B-92FF09E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2860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FA45-AED2-466D-AC75-F7B5C3C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9A0B5"/>
          </a:solidFill>
          <a:ln xmlns:a="http://schemas.openxmlformats.org/drawingml/2006/main" w="9525">
            <a:solidFill>
              <a:srgbClr val="19A0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B0540-722B-419E-873E-FAE6F0F7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76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8410B-3CF9-48C3-956E-111A2C8A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149D6-2B17-4325-9D47-BC508EDC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expertIds[BS,K] 决定 token 目标专家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06312-36ED-41F4-8A8D-E71DB0B7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2860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6692B-0494-4757-9946-A8034A43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C431F-5975-4EAF-9B95-781E680F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D1A5C-6427-4564-9384-2CE4B9F8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Quantize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6504A-7499-457E-B894-6D587D5B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814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可选 static / dynamic / MX 量化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4C69F-EE7E-4A6F-8157-7A004C78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22860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E99E9-A55D-4220-98B0-A0BF303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22FBC-01FE-43B4-B8C2-9E9B365B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68FFA-BA8B-4E96-B951-F15BD27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005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AllToAllV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8D175-394D-4BE1-A47C-72E2D10B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EP 域可变长通信后聚合输出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20B7E-104D-45E5-A918-147F40C7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D4F69-819D-4CC1-A1F3-EAC8274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0762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B81F3-C6AB-4031-A43D-D85DBE86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FA05-33C6-47D5-8591-29C262B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一页结论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A037C-D380-4804-A608-C34830A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0BD9-4368-4DBA-BFC4-0F443F2F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2197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F555E-17DC-4DDB-A8E5-8E221C57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1AAFB-B2C2-4CC2-AD7B-BA2AEB1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功能定位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C29B7-FFA9-4C58-B8F2-3B6B850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MoE Dispatch 阶段的 token 路由、可选量化、EP 域通信和 Combine 辅助信息生成。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6BFCA-04C2-4425-B6F9-52108164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2197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74052-6D41-40F7-BCA4-2A47AF8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47BC1-72DA-4BCE-8260-0D0C04B5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A5 双路径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4455A-12D4-46CB-8DBA-C46E5D49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5740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commAlg=ccu 走 A5 CCU 专用实现；非 ccu 走 MTE/fullmesh 通用 MC2 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2B90F-B251-430E-A74D-89CCF4E6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2197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8E3AF-DAE9-4D4A-8AE5-C4D72638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91A"/>
          </a:solidFill>
          <a:ln xmlns:a="http://schemas.openxmlformats.org/drawingml/2006/main" w="0">
            <a:solidFill>
              <a:srgbClr val="C989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E8D13-A221-4A53-BC41-2901C8A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核心约束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2296B-E912-4FEA-9515-DF10AEF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A5 CCU 当前要求 tpWorldSize=1，通信窗口大小和 globalBS 是 tiling 成败关键。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9DE4D-ADF8-412E-BAF0-E207266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5219700" cy="13144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CA67B-CEF6-4695-9418-67237E9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A504D-F497-4330-BEDC-96BF8EF4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Device 主线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6A642-72E3-4DF3-AD07-03E563C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mask -&gt; 排序统计 -&gt; token 打包 -&gt; AlltoAllvWrite -&gt; gather 输出。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2A84F-EC8D-4D8F-B84A-C870848E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235D0-D448-46B8-AB37-DB2EABAB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2219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69390-3CF2-44F8-B279-7CEF78B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AC05A-3F63-4301-81D2-D1537CAC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算子功能：从 router 输出到专家侧输入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21467-F0D1-4F7A-AEC7-C6EE463E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8DEC-8C22-4C6F-B4F1-6E2B3D7C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5240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F0FC7-9252-4D02-A336-4B53AF8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x[BS,H]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80DB5-79DC-4679-BFFD-B9039FA2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A6475"/>
                </a:solidFill>
              </a:defRPr>
            </a:pPr>
            <a:r>
              <a:rPr sz="1013" b="0">
                <a:solidFill>
                  <a:srgbClr val="5A6475"/>
                </a:solidFill>
              </a:rPr>
              <a:t>本卡 token 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F00B6-3533-4DD0-B38B-137B700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574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1D5A1-A480-44A9-94A6-1EA3396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FA7C0-BE22-4778-9ECC-A5A9BEF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5240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E811B-1D68-461A-863F-DA7C11D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expertIds[BS,K]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7A747-0226-49F2-8FBA-80CA2C59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051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A6475"/>
                </a:solidFill>
              </a:defRPr>
            </a:pPr>
            <a:r>
              <a:rPr sz="1013" b="0">
                <a:solidFill>
                  <a:srgbClr val="5A6475"/>
                </a:solidFill>
              </a:rPr>
              <a:t>topK 专家路由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184C-6BCD-4D67-85D7-FA2779BB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574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CC024-5602-4ABF-9B05-EBA2D158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019B6-B88A-4805-944C-BBFC445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15240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43981-4D85-4679-B3CE-2E403558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C05D-AE67-4EE4-A37A-22D3335A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A6475"/>
                </a:solidFill>
              </a:defRPr>
            </a:pPr>
            <a:r>
              <a:rPr sz="1013" b="0">
                <a:solidFill>
                  <a:srgbClr val="5A6475"/>
                </a:solidFill>
              </a:rPr>
              <a:t>按专家排序与打包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37F86-729D-4F12-9BE4-64F541B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574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775C5-D983-4805-B0FB-B184EC1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C51C5-78EE-4F92-A996-D1D6CE90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5240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D9429-2E08-4088-A267-54E96A7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AllToAllV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07EB6-77DD-4375-BB21-F194E49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A6475"/>
                </a:solidFill>
              </a:defRPr>
            </a:pPr>
            <a:r>
              <a:rPr sz="1013" b="0">
                <a:solidFill>
                  <a:srgbClr val="5A6475"/>
                </a:solidFill>
              </a:rPr>
              <a:t>EP 域可变长通信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CDB33-E7AC-44FA-A3F6-5A866F6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574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7B00C-D816-4D87-A383-D03654D8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0"/>
            <a:ext cx="114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45F08-6BA4-42D7-B810-418E0EC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52400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4AE93-353D-4FF3-B9C7-1DEDBB6D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8B57"/>
                </a:solidFill>
              </a:defRPr>
            </a:pPr>
            <a:r>
              <a:rPr sz="1350" b="1">
                <a:solidFill>
                  <a:srgbClr val="2E8B57"/>
                </a:solidFill>
              </a:rPr>
              <a:t>expandXOut[A,H]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9D0F9-DFAA-4BB0-9003-A62F109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051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5A6475"/>
                </a:solidFill>
              </a:defRPr>
            </a:pPr>
            <a:r>
              <a:rPr sz="1013" b="0">
                <a:solidFill>
                  <a:srgbClr val="5A6475"/>
                </a:solidFill>
              </a:rPr>
              <a:t>专家侧连续 token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84577-51B9-42B6-B398-5566707E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96774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7C98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1B44E-9039-4DFD-887E-97B98AF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输出不仅是 token 数据，还包含 CombineV2 所需的 assistInfo、expertTokenNums、EP 接收计数和动态 scale。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FB15F-DE2D-41E1-9D9B-406B1575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这些辅助输出跨产品和算法内部布局可能变化，业务侧应直接传给 Combine，不应解析内部值。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4011D-9FCA-4C01-BE3A-5EFAE375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6CE4B-B49A-4A6B-9B2F-A26DDBC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6411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372CE3-F0C3-44BB-9EA6-9E25560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57898-AFB6-490F-A165-5EDD9944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输入与输出：最重要的 Tensor 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9A68-2B08-47FA-89D0-28821794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7FEF7-461B-4B7C-BC90-19FDB57E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049000" cy="32004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C15F0-FD56-4CBB-8316-FE639C1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04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63"/>
          </a:solidFill>
          <a:ln xmlns:a="http://schemas.openxmlformats.org/drawingml/2006/main" w="0">
            <a:solidFill>
              <a:srgbClr val="203A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1D312-2A21-4C55-B583-AAE00973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35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9D9AE-9814-496C-821F-4D5F8204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335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19F98-D0B2-4C5F-B2FA-D9ECF2D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33525"/>
            <a:ext cx="706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含义 / 目的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45B0C-03F5-4438-88F8-0450EC4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63AFC-29FE-49B7-B697-ECBC4E63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716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(BS, 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372D8-8666-4ABF-ACE4-045886B1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716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本 rank 待分发 token 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0CBC1-355C-4738-ADEC-C9E6301A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104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BBAA7-CD51-4E15-B369-935710A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expertIds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16F38-2532-458D-8AD4-355B09C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288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(BS, K)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E886F-20C8-4AD6-AC59-46ECD676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每个 token 的 topK 专家索引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8071F-F9C5-4DDF-8B16-84E7902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scales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FA593-17D0-4A35-A4A6-699C7CF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860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1D / 2D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146DA-63D4-4DDB-9B69-98614091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860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量化平滑参数或低精度输入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C0ACE-6761-4C7B-AC25-07B08674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104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44872-5704-47B6-8637-4817251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expandXOut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95CFC-802A-40E8-A7AE-46A7D240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432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(A, H)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0E9AF0-C60D-499A-A0FD-613D2BC3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432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按本地专家聚合后的 token 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5BC58-12A4-485A-B1D2-5A3AEBA3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dynamicScalesOut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DCB68-3C2F-4A8F-9120-97175804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004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(A,) / (A, groups)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391A2-7FF8-4162-846C-E91817A5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004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动态量化或低精度 scale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15F44-A12B-4B71-A1B0-75C15131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104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E918A-C9DE-4494-ABEE-6796DF29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assistInfo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D65E4-D56B-4408-BA95-C5C4751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576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 * 128,)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04D0F3-A1C5-4D90-BAED-7A41B566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57675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CombineV2 路由辅助信息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B7E19-9F3E-4EAF-AD10-A65430F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A63"/>
                </a:solidFill>
              </a:defRPr>
            </a:pPr>
            <a:r>
              <a:rPr sz="1650" b="1">
                <a:solidFill>
                  <a:srgbClr val="203A63"/>
                </a:solidFill>
              </a:rPr>
              <a:t>A 的核心计算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0E2126-AE4A-4CC4-8BED-CC2AAC5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共享专家 rank: A = maxBS * ceil(epWorldSize / rankNumPerSharedExpert)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FAAAE-1645-41BF-8553-1F2531A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普通 MoE rank: A = globalBS * min(localMoeExpertNum, K)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8F415-6537-4E99-B056-328BDA2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881C0-FE69-4C79-A8B0-9634686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5358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3A2531-87A5-4588-9BD4-C0CB05B5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B1C5-C249-40D3-B34D-A8EF1780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A5 分支选择：commAlg 决定实现路径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1F407-F1DF-49FD-90B7-0942E135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F0206-7828-40A3-A5FA-B4427854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143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9E48E-38EB-4585-8F52-FC821C01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Platform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D76DB-3FC7-4671-99E4-92271D3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19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NpuArch::DAV_3510</a:t>
            </a:r>
          </a:p>
          <a:p xmlns:a="http://schemas.openxmlformats.org/drawingml/2006/main">
            <a:pPr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__NPU_ARCH__ == 3510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ABFD7-07AC-4F06-9830-DE15299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DE337-9770-4AAF-980E-9888A5DF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28750"/>
            <a:ext cx="22669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9525">
            <a:solidFill>
              <a:srgbClr val="B9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00B6-E3F8-42EA-A4C0-57CD7C82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95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3A63"/>
                </a:solidFill>
              </a:defRPr>
            </a:pPr>
            <a:r>
              <a:rPr sz="1725" b="1">
                <a:solidFill>
                  <a:srgbClr val="203A63"/>
                </a:solidFill>
              </a:rPr>
              <a:t>commAlg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1D790-9D72-4914-A133-480EFA7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57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475"/>
                </a:solidFill>
              </a:defRPr>
            </a:pPr>
            <a:r>
              <a:rPr sz="1050" b="0">
                <a:solidFill>
                  <a:srgbClr val="5A6475"/>
                </a:solidFill>
              </a:rPr>
              <a:t>ccu / empty / fullmesh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664A1-B41B-4974-9AEA-82BF5AC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EED08-2DC7-43D1-8882-501127B3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23950"/>
            <a:ext cx="28575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0FF"/>
          </a:solidFill>
          <a:ln xmlns:a="http://schemas.openxmlformats.org/drawingml/2006/main" w="9525">
            <a:solidFill>
              <a:srgbClr val="CCC7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FE0FB-18BC-4E9C-8ED1-F26FAFD5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D5BD0"/>
                </a:solidFill>
              </a:defRPr>
            </a:pPr>
            <a:r>
              <a:rPr sz="1650" b="1">
                <a:solidFill>
                  <a:srgbClr val="6D5BD0"/>
                </a:solidFill>
              </a:rPr>
              <a:t>CCU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49B27-4E33-4288-9A90-E23E06EB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A5 专用 tiling</a:t>
            </a:r>
          </a:p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MoeDistributeDispatchA5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E0C08-7B15-4C72-9EEC-9ECA8C5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575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1FAF3"/>
          </a:solidFill>
          <a:ln xmlns:a="http://schemas.openxmlformats.org/drawingml/2006/main" w="9525">
            <a:solidFill>
              <a:srgbClr val="BFE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49996-5D5A-42B5-B110-4149DD54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8B57"/>
                </a:solidFill>
              </a:defRPr>
            </a:pPr>
            <a:r>
              <a:rPr sz="1650" b="1">
                <a:solidFill>
                  <a:srgbClr val="2E8B57"/>
                </a:solidFill>
              </a:rPr>
              <a:t>MTE / fullmesh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41443-ED1C-4AA3-AA71-FC5615B3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A3/A5 公共 tiling</a:t>
            </a:r>
          </a:p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V2 / FullMesh 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71320-5C3C-447C-836F-03DFB507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A63"/>
                </a:solidFill>
              </a:defRPr>
            </a:pPr>
            <a:r>
              <a:rPr sz="1650" b="1">
                <a:solidFill>
                  <a:srgbClr val="203A63"/>
                </a:solidFill>
              </a:rPr>
              <a:t>关键判断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D7390-CCB1-4FBA-8D89-B1B0F49E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46355-0F2F-437B-A638-F9609FE2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A5 API 层对 DAV_3510 单独设置 HCCL server type 或 MC2 context。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C556F-AB5E-4CDF-B8E8-9FC1BC0B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556BA-8DF4-4BD4-B5FE-5F8D1363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ccu 走 CCU HCCL server；非 ccu 进入 V3/MTE 扩展执行。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E4A2D-24AE-4B80-B0C6-8BED14FF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5D31B-2C6D-47BA-A5A3-40696D5D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Device 编译期再由 ArchTag、CommMode、FullMesh、QuantMode 选择模板。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B4759-7EB3-48D2-86D3-2C09D357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511AE-8D07-4C0D-80A5-0429515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5308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85A27-3321-4DB2-907E-DB49A37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5F125-38F3-4990-A47E-A44C13D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Host Tiling：把拓扑、容量和通信窗口固化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E7DDB-10C9-4457-9E7B-EA717FB1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9BA51-172E-453F-A65C-8FBC183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169545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7248E-49B8-4BB8-B482-F05240EC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257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A0B5"/>
          </a:solidFill>
          <a:ln xmlns:a="http://schemas.openxmlformats.org/drawingml/2006/main" w="9525">
            <a:solidFill>
              <a:srgbClr val="19A0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FC98B-884C-491C-9904-56FA15FE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90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BA3D3-C490-443E-B298-2584075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Attrs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0F1B8-C258-4448-BD2F-ADA3B1A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5A6475"/>
                </a:solidFill>
              </a:defRPr>
            </a:pPr>
            <a:r>
              <a:rPr sz="960" b="0">
                <a:solidFill>
                  <a:srgbClr val="5A6475"/>
                </a:solidFill>
              </a:rPr>
              <a:t>读取 EP/TP、专家、shared expert、quantMode、globalBS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1FC04-3BF3-49CF-8998-826EBAB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75AA1-0F1D-4F4B-80E9-A7101D2B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169545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58550-A2E1-4852-BF7D-CA71D8CE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257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870B6-4ED0-439E-99F7-95E36E67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90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8CD6-DB49-48E8-9689-78005752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Shape &amp; dtype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414B0-F832-42D0-BF30-66B82CA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5A6475"/>
                </a:solidFill>
              </a:defRPr>
            </a:pPr>
            <a:r>
              <a:rPr sz="960" b="0">
                <a:solidFill>
                  <a:srgbClr val="5A6475"/>
                </a:solidFill>
              </a:rPr>
              <a:t>校验 x/expertIds/scales/output，映射 RealModeA5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DFBF6-09BD-4682-8362-A959BD4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BB0C5-8D9A-4553-AB3B-B87F6F36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169545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F45D-E8AF-4445-8A28-0B5FB93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1257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96B63-3EB5-495E-B161-43737DF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90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4F994-72EF-4BB9-BB3A-CC137B8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A0BEE-54E6-4B55-98DD-815EF20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5A6475"/>
                </a:solidFill>
              </a:defRPr>
            </a:pPr>
            <a:r>
              <a:rPr sz="960" b="0">
                <a:solidFill>
                  <a:srgbClr val="5A6475"/>
                </a:solidFill>
              </a:rPr>
              <a:t>计算 localMoeExpertNum、A、maxBS、输出容量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375AB-74AA-44B3-9F7D-8550D07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81ED5-9CD0-4561-8C36-9C8AF728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69545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94C6A-E93E-424D-8B59-2AEAE4F6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24050"/>
            <a:ext cx="1257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9891A"/>
          </a:solidFill>
          <a:ln xmlns:a="http://schemas.openxmlformats.org/drawingml/2006/main" w="9525">
            <a:solidFill>
              <a:srgbClr val="C9891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BDEDF-507A-41A6-9483-CC46D2FB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90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B8762-2DB7-491C-81F7-332CA92E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Workspace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E49DB-D914-4655-B16C-43CD02D2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5A6475"/>
                </a:solidFill>
              </a:defRPr>
            </a:pPr>
            <a:r>
              <a:rPr sz="960" b="0">
                <a:solidFill>
                  <a:srgbClr val="5A6475"/>
                </a:solidFill>
              </a:rPr>
              <a:t>按 token 布局和 HCCL window 估算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3228AD-84D0-43E0-902E-49626169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915E9-ED0B-4434-B370-2A7561FE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33550"/>
            <a:ext cx="1695450" cy="12763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7833D-BD8F-4DAF-A482-4497912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24050"/>
            <a:ext cx="12573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3A63"/>
          </a:solidFill>
          <a:ln xmlns:a="http://schemas.openxmlformats.org/drawingml/2006/main" w="9525">
            <a:solidFill>
              <a:srgbClr val="203A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4B13A-2DD2-4BE2-ADC7-0F883BF9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90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3225E-B3A3-4E30-A294-13489AF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TilingKey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7A168-4280-4567-93BD-36EC85A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5A6475"/>
                </a:solidFill>
              </a:defRPr>
            </a:pPr>
            <a:r>
              <a:rPr sz="960" b="0">
                <a:solidFill>
                  <a:srgbClr val="5A6475"/>
                </a:solidFill>
              </a:rPr>
              <a:t>编码 Arch=A5、CommMode、QuantMode、ScaleMode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92D069-A018-4F8B-A8BA-BE0732E7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8107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6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336C2-4A45-4502-87D9-17E3901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A63"/>
                </a:solidFill>
              </a:defRPr>
            </a:pPr>
            <a:r>
              <a:rPr sz="1650" b="1">
                <a:solidFill>
                  <a:srgbClr val="203A63"/>
                </a:solidFill>
              </a:rPr>
              <a:t>窗口检查公式要点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5E574B-F697-4A28-BC91-817EDE9E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actualSize = aivNum * 512 + 2 * epWorldSize * (maxBS * Align512(alignedH * 2) * localMoeExpertNum + 512)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3329F-2101-4FEB-9DD1-D3D71916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大 BS、大 H、多本地专家、FP8/FP4 scale 附加信息都会推高 window 需求。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243C24-F7BE-4D52-A364-60A728A3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D69D28-568B-4E68-B5EE-3E6615C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0039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CEDBA-C940-4606-A287-4AAB063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19562-7F09-4247-A8E5-CE15B01D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A5 Host 侧关键约束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ADC8C-6D5F-4863-BE0C-8431D7CD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E050-F40F-4726-9D52-11FD81C8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58500" cy="3467100"/>
          </a:xfrm>
          <a:prstGeom xmlns:a="http://schemas.openxmlformats.org/drawingml/2006/main" prst="roundRect">
            <a:avLst>
              <a:gd name="adj" fmla="val 10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943E8-2FF5-4F92-AA1D-12270BA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63"/>
          </a:solidFill>
          <a:ln xmlns:a="http://schemas.openxmlformats.org/drawingml/2006/main" w="0">
            <a:solidFill>
              <a:srgbClr val="203A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41863-80FF-4B9F-9376-B43B36E8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144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约束项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8466D-E75D-4995-A82C-565B720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1447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A5 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0FB87-C21D-4DD8-8EEE-8072C2D3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144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03BE7-A19C-4096-9151-7BD5F440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88E8D-967B-485A-BF23-D804B42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907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CCU 路径要求 tpWorldSize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32152-47F4-486A-900A-10A2588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907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当前不支持 TP 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53C4D-9B27-49F7-95C8-42FC2EDE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76CAB-01E8-4199-BCAD-D289260A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BS / H / 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832C6-3484-4DBB-90FC-63C3585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860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BS ≤ 512, H ∈ [1024,8192], K ≤ 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5D897-F399-4395-A990-1864708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决定输出容量和 UB 压力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024CB-0E12-4516-ADBE-6E507BC3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expert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FDD84-8B61-46D9-A1F9-17C17E93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813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moeExpertNum 可被 moeRankNum 整除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BB0AC-F98B-4363-AAB7-FC21876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813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确定 localMoeExpertNum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2B9E1-7C00-433E-81E7-243229DC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026F6-9B7F-439F-8D06-3A880EE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globalBS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77C0C-EE30-4552-A25B-715CE21E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766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0 或 maxBS * epWorldSize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AB8EE-6429-44FF-AC31-7617702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766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不同 rank BS 需显式传 maxBS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1EFA0-01D5-419F-B8FF-6B6D213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xActiveMask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30C04-404B-4D17-9CEC-FB599203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719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只支持 1D bool，且语义为前缀有效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AD4FF-63BB-404E-8F0D-9AB0885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719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不能表达任意稀疏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E7479-009C-49C3-806B-BA042A6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B83DE-1606-4713-878C-39A1DEA4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quant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E0CE1-1835-40D3-8F0E-CF98ED40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67225"/>
            <a:ext cx="382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quantMode 与 expandX dtype 严格映射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E0AA7C-591A-4539-B0C1-47541B77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决定 scale shape 和 token 布局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2DA77-E437-46EC-8106-A20763D0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4F04DA-3152-4B4A-AEEF-40F9DE0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6632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97566-7494-4ADB-9895-302461D5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FB089-A393-48CE-836A-D1B7B9A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Device CCU 主流程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BF29-8087-4932-AC13-ADEE7C8C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0FCB9-9040-40F7-9900-827CADE6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9908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B06ED-BECD-46EF-97F9-7289BCA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9A0B5"/>
          </a:solidFill>
          <a:ln xmlns:a="http://schemas.openxmlformats.org/drawingml/2006/main" w="9525">
            <a:solidFill>
              <a:srgbClr val="19A0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72CC5-BCE5-48DA-80B0-B3E0FCF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24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4CB0A-C1E9-4F99-9450-9208664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B843B-F356-4C57-9CC9-CF5D6AA1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绑定 GM、读取 tiling、计算 perTokenCommSize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7A4CF-BE75-48F1-870C-309385DD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29908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1F562-DB66-4F1F-90EB-D484810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C3DC3-A33A-4181-802E-862A8A5A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24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A8DC1-66D5-456F-A54E-0853873D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38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BFA58-DB12-452D-9324-70F1FEF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可选 xActiveMask 求 activeBs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B4D21-368A-40EA-B7FD-D24E9241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29908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B75E0-0392-47B5-9928-E54C8146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0B9D6-44D9-4B78-99D8-8A567F5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240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F289C-C749-4F79-BE35-F799B4C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38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8C4E2-9C2D-4520-AB0D-98CC73F0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expertIds 排序、统计、token 打包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1005F-1A6B-4F73-AF79-E6FDE48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908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AF609-0EC1-4FCE-A163-3188501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9891A"/>
          </a:solidFill>
          <a:ln xmlns:a="http://schemas.openxmlformats.org/drawingml/2006/main" w="9525">
            <a:solidFill>
              <a:srgbClr val="C989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4DF8C-1BB1-4733-A458-74D611F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43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FA893-5D14-4B14-B925-29286B9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AllToAllV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FC186-902A-45A9-8678-DAB19E72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AIV0 发起 CCU AlltoAllvWrite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51EC0-0C18-43FB-8EF0-1008938A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29908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437A4-408A-4A0F-95EE-6C1758F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3619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3A63"/>
          </a:solidFill>
          <a:ln xmlns:a="http://schemas.openxmlformats.org/drawingml/2006/main" w="9525">
            <a:solidFill>
              <a:srgbClr val="203A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3D19F-16ED-45A0-9805-1A92180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432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D1F43-A4C2-4DC9-BE0A-D7FAA357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Gather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A1EEF-5556-442C-AAF5-C0EC60A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A6475"/>
                </a:solidFill>
              </a:defRPr>
            </a:pPr>
            <a:r>
              <a:rPr sz="1088" b="0">
                <a:solidFill>
                  <a:srgbClr val="5A6475"/>
                </a:solidFill>
              </a:rPr>
              <a:t>接收窗口重排到 expandXOut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ED464-6883-4779-9ECE-8514879A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670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7C9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14A88-09F8-454D-AD1D-3CB0B04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输出写回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50E09-AA11-4CE9-8C81-06BCE3B4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6475"/>
                </a:solidFill>
              </a:defRPr>
            </a:pPr>
            <a:r>
              <a:rPr sz="1050" b="0">
                <a:solidFill>
                  <a:srgbClr val="5A6475"/>
                </a:solidFill>
              </a:rPr>
              <a:t>expandXOut / dynamicScalesOut / expertTokenNumsOut / epRecvCountsOut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B060C-D7A9-45AE-B6C5-F6FF6C48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31BED-2A8F-463D-A736-6E440EA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429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198E1-0525-44D8-8EDF-1E52C7A2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0F92-1B4D-4BD2-9EC4-9D46570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量化与通信打包布局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E50A1-4024-48D9-A0F2-63A6F0D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5A8F3-11D0-461F-BAC5-346B8BC4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3200400"/>
          </a:xfrm>
          <a:prstGeom xmlns:a="http://schemas.openxmlformats.org/drawingml/2006/main" prst="roundRect">
            <a:avLst>
              <a:gd name="adj" fmla="val 1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364B8-90DA-4247-BCC3-D66BF53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63"/>
          </a:solidFill>
          <a:ln xmlns:a="http://schemas.openxmlformats.org/drawingml/2006/main" w="0">
            <a:solidFill>
              <a:srgbClr val="203A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6268-B8CD-438C-B8A9-363F1BA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35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BE837-EF14-465C-9AF8-35549669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33525"/>
            <a:ext cx="525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通信 payload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70B35-2D5C-46ED-BF4E-02347E9A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335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scale 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3D1BC-31C1-4C85-A79E-AD5EEA7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非量化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9B2F-9D45-4A1A-9C0F-7360C571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478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token 数据；低精度输入可追加 input 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47191-99EB-40F3-9956-0F5D84E1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可选 dynamicScalesOut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3B5B1-8BA1-413C-808F-8AD52A1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B5710-B2CA-4EEE-9ACF-8474F16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静态量化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2D04F-075D-4A2E-A754-870FD2D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812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CastToFp32 × scales -&gt; INT8/HIF8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25076-876C-42B8-A468-3F38BF6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8127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无额外 dynamic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5E696-54A3-499F-8CB4-A473E489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per-token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A394F-11D2-4F29-83C5-A11D15E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146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量化 token + 1 个 float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EBC25D-01D4-4C84-9800-2DA0A3F0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(A,)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F7B46-F2F9-4DF9-A8F7-582995F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9F488-087F-4677-8DA3-E240C9AD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per-group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FCEA5-67CD-49CC-8812-7DCB4F9B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Align128(H) token + ceil(H/128) scales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623FE-E4B9-4B76-A1A0-E65980C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4807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(A, ceil(H/128))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367B7-E348-46F7-BAC0-D40395F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172033"/>
                </a:solidFill>
              </a:defRPr>
            </a:pPr>
            <a:r>
              <a:rPr sz="938" b="1">
                <a:solidFill>
                  <a:srgbClr val="172033"/>
                </a:solidFill>
              </a:rPr>
              <a:t>MX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424EA-3736-43CE-BCA1-4AFAF6A7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814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Align256(H) token + even(ceil(H/32)) e8m0 scales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35DE4-C786-46A3-91B1-E19E4FF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81475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475"/>
                </a:solidFill>
              </a:defRPr>
            </a:pPr>
            <a:r>
              <a:rPr sz="938" b="0">
                <a:solidFill>
                  <a:srgbClr val="5A6475"/>
                </a:solidFill>
              </a:rPr>
              <a:t>(A, even(ceil(H/32)))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DCEE2-C6EF-4B23-8EC3-D1AB217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A63"/>
                </a:solidFill>
              </a:defRPr>
            </a:pPr>
            <a:r>
              <a:rPr sz="1650" b="1">
                <a:solidFill>
                  <a:srgbClr val="203A63"/>
                </a:solidFill>
              </a:rPr>
              <a:t>所有模式最终以 Align512(perTokenMergeSize) 作为 EP 通信粒度。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9AEDE-EF45-4100-B699-E0146EB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2A70F-4E45-4289-AE1A-508DDFDB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1973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E0DA7-176A-467D-8916-FDAD8D2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9A0B5"/>
                </a:solidFill>
              </a:defRPr>
            </a:pPr>
            <a:r>
              <a:rPr sz="975" b="1">
                <a:solidFill>
                  <a:srgbClr val="19A0B5"/>
                </a:solidFill>
              </a:rPr>
              <a:t>MoeDistributeDispatchV2 / A5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F40DE-D193-4DEB-BD97-4A05FAD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结论与使用注意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5B937-CABE-4395-94FA-5324B0A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FC984-F7AF-47C9-A6DF-8F68DBB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E50FB-1392-41A9-B0BF-271B9A6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A5 分支核心价值：在 Dispatch 阶段完成专家路由、量化打包和 EP 域可变长通信。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59141-6234-4D2D-B4CC-093A6A82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D596A-9552-43A8-AFE4-6C2772DA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CCU 路径更专用：Host 生成 A5/CCU tiling，Device 走 MoeDistributeDispatchA5。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41D04-8944-4F27-B20A-AC615005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FC3C8-F98B-4880-AFE6-10D7E0D1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容量与窗口是首要风险：A、maxBS、localMoeExpertNum、H 和 scale 布局共同决定 window 需求。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595AF-9A57-454C-8EE5-7CE3357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9124C-F4B3-400C-BB1B-AD85A11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辅助输出只服务 CombineV2：assistInfoForCombineOut、epRecvCountsOut 等不建议业务解析。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FF8D2-E821-4721-ACDF-4C070FDF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0B5"/>
          </a:solidFill>
          <a:ln xmlns:a="http://schemas.openxmlformats.org/drawingml/2006/main" w="0">
            <a:solidFill>
              <a:srgbClr val="19A0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8596-DDAB-47A7-8BBD-911FF8EE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58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当前 A5 CCU 不支持 TP 通信，xActiveMask 只适合前缀有效 token 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BE636-A056-4288-90E1-CE6ACA3C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5527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FE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59C5A-EE3B-43DB-983E-F9D09426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8B57"/>
                </a:solidFill>
              </a:defRPr>
            </a:pPr>
            <a:r>
              <a:rPr sz="1350" b="1">
                <a:solidFill>
                  <a:srgbClr val="2E8B57"/>
                </a:solidFill>
              </a:rPr>
              <a:t>一句话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CDB48-BB89-4EC7-8339-5252A2F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72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6475"/>
                </a:solidFill>
              </a:defRPr>
            </a:pPr>
            <a:r>
              <a:rPr sz="1125" b="0">
                <a:solidFill>
                  <a:srgbClr val="5A6475"/>
                </a:solidFill>
              </a:rPr>
              <a:t>Host 定容量，Device 做路由通信。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F3AFA-872C-4CB2-BC63-4C65A0A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A8494"/>
                </a:solidFill>
              </a:defRPr>
            </a:pPr>
            <a:r>
              <a:rPr sz="750" b="0">
                <a:solidFill>
                  <a:srgbClr val="7A8494"/>
                </a:solidFill>
              </a:rPr>
              <a:t>Source: local code analysis and aclnnMoeDistributeDispatchV2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5B3F7-1054-4973-987D-0AFB839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475"/>
                </a:solidFill>
              </a:defRPr>
            </a:pPr>
            <a:r>
              <a:rPr sz="900" b="1">
                <a:solidFill>
                  <a:srgbClr val="5A64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8695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2026-06-17T06:17:11.5280000Z</dcterms:created>
  <dcterms:modified xsi:type="dcterms:W3CDTF">2026-06-17T06:17:11.5280000Z</dcterms:modified>
</coreProperties>
</file>