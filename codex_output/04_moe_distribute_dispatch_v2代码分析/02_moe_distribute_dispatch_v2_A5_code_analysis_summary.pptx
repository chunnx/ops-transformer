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2ba83fcaacc4141" /><Relationship Type="http://schemas.openxmlformats.org/officeDocument/2006/relationships/extended-properties" Target="/docProps/app.xml" Id="R6e75a3c035244b54" /><Relationship Type="http://schemas.openxmlformats.org/officeDocument/2006/relationships/officeDocument" Target="/ppt/presentation.xml" Id="R3df1ebf5764347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ee83c36e8f4cb2"/>
  </p:sldMasterIdLst>
  <p:notesMasterIdLst>
    <p:notesMasterId xmlns:r="http://schemas.openxmlformats.org/officeDocument/2006/relationships" r:id="R504fdd8e8ba84a46"/>
  </p:notesMasterIdLst>
  <p:sldIdLst>
    <p:sldId xmlns:r="http://schemas.openxmlformats.org/officeDocument/2006/relationships" id="256" r:id="Ra58e980c322c4b6b"/>
    <p:sldId xmlns:r="http://schemas.openxmlformats.org/officeDocument/2006/relationships" id="257" r:id="R6a525641bada47f5"/>
    <p:sldId xmlns:r="http://schemas.openxmlformats.org/officeDocument/2006/relationships" id="258" r:id="Rd0b490b86db74ab7"/>
    <p:sldId xmlns:r="http://schemas.openxmlformats.org/officeDocument/2006/relationships" id="259" r:id="R8039371457b44fe2"/>
    <p:sldId xmlns:r="http://schemas.openxmlformats.org/officeDocument/2006/relationships" id="260" r:id="R84a9b7f2c3e04053"/>
    <p:sldId xmlns:r="http://schemas.openxmlformats.org/officeDocument/2006/relationships" id="261" r:id="Rb432ab190513435d"/>
    <p:sldId xmlns:r="http://schemas.openxmlformats.org/officeDocument/2006/relationships" id="262" r:id="R6787b0469a844b95"/>
    <p:sldId xmlns:r="http://schemas.openxmlformats.org/officeDocument/2006/relationships" id="263" r:id="R65f7ec49e71a4048"/>
    <p:sldId xmlns:r="http://schemas.openxmlformats.org/officeDocument/2006/relationships" id="264" r:id="Rbe859feeead444fc"/>
    <p:sldId xmlns:r="http://schemas.openxmlformats.org/officeDocument/2006/relationships" id="265" r:id="Rc216071bd9d54930"/>
    <p:sldId xmlns:r="http://schemas.openxmlformats.org/officeDocument/2006/relationships" id="266" r:id="R5e58afa6d36e4b76"/>
    <p:sldId xmlns:r="http://schemas.openxmlformats.org/officeDocument/2006/relationships" id="267" r:id="Rda6eebeeb0c5419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c2dce4367c74fe1" /><Relationship Type="http://schemas.openxmlformats.org/officeDocument/2006/relationships/slideMaster" Target="/ppt/slideMasters/slideMaster1.xml" Id="R3cee83c36e8f4cb2" /><Relationship Type="http://schemas.openxmlformats.org/officeDocument/2006/relationships/notesMaster" Target="/ppt/notesMasters/notesMaster1.xml" Id="R504fdd8e8ba84a46" /><Relationship Type="http://schemas.openxmlformats.org/officeDocument/2006/relationships/presProps" Target="/ppt/presProps.xml" Id="R9cadf938e95f4d69" /><Relationship Type="http://schemas.openxmlformats.org/officeDocument/2006/relationships/tableStyles" Target="/ppt/tableStyles.xml" Id="Rf7379070c1014d05" /><Relationship Type="http://schemas.openxmlformats.org/officeDocument/2006/relationships/slide" Target="/ppt/slides/slide1.xml" Id="Ra58e980c322c4b6b" /><Relationship Type="http://schemas.openxmlformats.org/officeDocument/2006/relationships/slide" Target="/ppt/slides/slide2.xml" Id="R6a525641bada47f5" /><Relationship Type="http://schemas.openxmlformats.org/officeDocument/2006/relationships/slide" Target="/ppt/slides/slide3.xml" Id="Rd0b490b86db74ab7" /><Relationship Type="http://schemas.openxmlformats.org/officeDocument/2006/relationships/slide" Target="/ppt/slides/slide4.xml" Id="R8039371457b44fe2" /><Relationship Type="http://schemas.openxmlformats.org/officeDocument/2006/relationships/slide" Target="/ppt/slides/slide5.xml" Id="R84a9b7f2c3e04053" /><Relationship Type="http://schemas.openxmlformats.org/officeDocument/2006/relationships/slide" Target="/ppt/slides/slide6.xml" Id="Rb432ab190513435d" /><Relationship Type="http://schemas.openxmlformats.org/officeDocument/2006/relationships/slide" Target="/ppt/slides/slide7.xml" Id="R6787b0469a844b95" /><Relationship Type="http://schemas.openxmlformats.org/officeDocument/2006/relationships/slide" Target="/ppt/slides/slide8.xml" Id="R65f7ec49e71a4048" /><Relationship Type="http://schemas.openxmlformats.org/officeDocument/2006/relationships/slide" Target="/ppt/slides/slide9.xml" Id="Rbe859feeead444fc" /><Relationship Type="http://schemas.openxmlformats.org/officeDocument/2006/relationships/slide" Target="/ppt/slides/slide10.xml" Id="Rc216071bd9d54930" /><Relationship Type="http://schemas.openxmlformats.org/officeDocument/2006/relationships/slide" Target="/ppt/slides/slide11.xml" Id="R5e58afa6d36e4b76" /><Relationship Type="http://schemas.openxmlformats.org/officeDocument/2006/relationships/slide" Target="/ppt/slides/slide12.xml" Id="Rda6eebeeb0c5419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018f90369f41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0df594f53b4131" /><Relationship Type="http://schemas.openxmlformats.org/officeDocument/2006/relationships/notesMaster" Target="/ppt/notesMasters/notesMaster1.xml" Id="R93fa1885b9ec42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e323f0756347f9" /><Relationship Type="http://schemas.openxmlformats.org/officeDocument/2006/relationships/notesMaster" Target="/ppt/notesMasters/notesMaster1.xml" Id="Rb67ad24df1a44f3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56337a36d84329" /><Relationship Type="http://schemas.openxmlformats.org/officeDocument/2006/relationships/notesMaster" Target="/ppt/notesMasters/notesMaster1.xml" Id="R430cf76cb24244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2f2df1f1ca4ccb" /><Relationship Type="http://schemas.openxmlformats.org/officeDocument/2006/relationships/notesMaster" Target="/ppt/notesMasters/notesMaster1.xml" Id="R5398a685f42c486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a84bc3b1b24af7" /><Relationship Type="http://schemas.openxmlformats.org/officeDocument/2006/relationships/notesMaster" Target="/ppt/notesMasters/notesMaster1.xml" Id="R6bc89939b4d54d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94ca6dfe9048c5" /><Relationship Type="http://schemas.openxmlformats.org/officeDocument/2006/relationships/notesMaster" Target="/ppt/notesMasters/notesMaster1.xml" Id="Rcb5de9921f0b41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d1b7176690e48be" /><Relationship Type="http://schemas.openxmlformats.org/officeDocument/2006/relationships/notesMaster" Target="/ppt/notesMasters/notesMaster1.xml" Id="Rc9f07dfcce9646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2cdee9662f4cc6" /><Relationship Type="http://schemas.openxmlformats.org/officeDocument/2006/relationships/notesMaster" Target="/ppt/notesMasters/notesMaster1.xml" Id="R41f4941a0bc94d1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f1dc732369d4476" /><Relationship Type="http://schemas.openxmlformats.org/officeDocument/2006/relationships/notesMaster" Target="/ppt/notesMasters/notesMaster1.xml" Id="Re2d6d96ba06c4a2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54bd6d8a014a59" /><Relationship Type="http://schemas.openxmlformats.org/officeDocument/2006/relationships/notesMaster" Target="/ppt/notesMasters/notesMaster1.xml" Id="R054aae46a57b4f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eee44432fda4f6a" /><Relationship Type="http://schemas.openxmlformats.org/officeDocument/2006/relationships/notesMaster" Target="/ppt/notesMasters/notesMaster1.xml" Id="R6aedbd56b99d4b0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93ca1b1662f418c" /><Relationship Type="http://schemas.openxmlformats.org/officeDocument/2006/relationships/notesMaster" Target="/ppt/notesMasters/notesMaster1.xml" Id="Ra039de6193cb4f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cc5a4e2693432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6eff02a06b4fae" /><Relationship Type="http://schemas.openxmlformats.org/officeDocument/2006/relationships/slideLayout" Target="/ppt/slideLayouts/slideLayout1.xml" Id="R5b79c83862d7490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79c83862d749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a9741d2b84e66" /><Relationship Type="http://schemas.openxmlformats.org/officeDocument/2006/relationships/notesSlide" Target="/ppt/notesSlides/notesSlide1.xml" Id="R2932c5c9a57343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4d8836ed54d6d" /><Relationship Type="http://schemas.openxmlformats.org/officeDocument/2006/relationships/notesSlide" Target="/ppt/notesSlides/notesSlide2.xml" Id="R06c5df759cb5486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a595c67e84431e" /><Relationship Type="http://schemas.openxmlformats.org/officeDocument/2006/relationships/notesSlide" Target="/ppt/notesSlides/notesSlide3.xml" Id="R1f0a049f71ad45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b3e2cd9f314929" /><Relationship Type="http://schemas.openxmlformats.org/officeDocument/2006/relationships/notesSlide" Target="/ppt/notesSlides/notesSlide4.xml" Id="R625f41a8b8c14e1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0c62478ad6456a" /><Relationship Type="http://schemas.openxmlformats.org/officeDocument/2006/relationships/notesSlide" Target="/ppt/notesSlides/notesSlide5.xml" Id="R94036d9b1d384a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30b7f7a404361" /><Relationship Type="http://schemas.openxmlformats.org/officeDocument/2006/relationships/notesSlide" Target="/ppt/notesSlides/notesSlide6.xml" Id="Racb3348514a240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83bc520cd74e0e" /><Relationship Type="http://schemas.openxmlformats.org/officeDocument/2006/relationships/notesSlide" Target="/ppt/notesSlides/notesSlide7.xml" Id="R4c89008e8a2b4e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be0446ee314942" /><Relationship Type="http://schemas.openxmlformats.org/officeDocument/2006/relationships/notesSlide" Target="/ppt/notesSlides/notesSlide8.xml" Id="R049ce1dc429447b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b36776d26b4c6f" /><Relationship Type="http://schemas.openxmlformats.org/officeDocument/2006/relationships/notesSlide" Target="/ppt/notesSlides/notesSlide9.xml" Id="R7ce116471c72423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bf27a5f6434d53" /><Relationship Type="http://schemas.openxmlformats.org/officeDocument/2006/relationships/notesSlide" Target="/ppt/notesSlides/notesSlide10.xml" Id="R9abe53d7108b4cb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25c1e1a87140f7" /><Relationship Type="http://schemas.openxmlformats.org/officeDocument/2006/relationships/notesSlide" Target="/ppt/notesSlides/notesSlide11.xml" Id="R76e9519766e746e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ff84e2601a4e20" /><Relationship Type="http://schemas.openxmlformats.org/officeDocument/2006/relationships/notesSlide" Target="/ppt/notesSlides/notesSlide12.xml" Id="R7711f756521a48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240E88-B377-454D-8C81-56F868CA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moe_distribute_dispatch_v2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910B9C-CB96-429B-AA13-9EE29C65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Ascend David V100/V120（A5）分支代码分析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446FCB-91F0-4889-812B-C458846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7429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按文件/函数粒度梳理代码结构、调用链与依赖关系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重点覆盖 API、InferShape/Tiling、Graph Fusion、GenerateTask、AICore Kernel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补充文件行数与核心函数行数/起止行统计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6EDEA3-FAFD-47F9-8332-970E9689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047750"/>
            <a:ext cx="2714625" cy="4095750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1720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5BB0C3-B62C-48E8-A6E4-1B1E76C6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3906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A5 两条路径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211CA4-886B-4828-A680-0EED73A3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876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E3455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E729E-E5D2-4E19-AA44-D624A5E8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6692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CCU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9E5B0B-35E6-4424-9217-04972D60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57450"/>
            <a:ext cx="2000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Inner V2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TilingImpl OP_VERSION_2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MoeDistributeDispatchA5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67D61-984F-484A-BCD1-A70603BB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385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26589-FD32-43EB-8577-41C4D107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05225"/>
            <a:ext cx="1390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MTE / FullMesh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74EAD-D37A-428B-BCC9-4596A23A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957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Mc2Context + Inner V3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A3 public tiling + ARCH=A5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0B1AA5-1952-4EC5-B431-04030774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51652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78EBDB-497B-4485-B74A-12A2BA42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核心结论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703352-9D96-482F-B7C0-0342EDC8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分支的判断点是 DAV_3510 / ascend950，而不是源码中的 V100/V120 字符串。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7DB2AD-3B86-4AB9-BF6D-1C0AFB19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1616F0-FDDB-47DA-9E8B-DBEBFF64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143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12640F-2EB6-4C5B-BD3D-9D2BCC2E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383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职责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5D0BBC-C3BE-4401-A495-C71AFD3D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19300"/>
            <a:ext cx="4629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按 expert_ids 路由 token，跨 EP/TP 通信，输出 expand_x 与 combine 辅助信息。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319F00-2A31-4431-9376-2463A509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428750"/>
            <a:ext cx="5143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63FE16-C581-4CF5-BA69-A3CC2233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383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分叉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6D569E-9E93-4E10-A615-DDF90689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19300"/>
            <a:ext cx="4629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comm_alg=ccu 走 CCU 专用链路；空/fullmesh_v1/fullmesh_v2 走 MTE/window 链路。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73E347-5B8C-480D-B9AC-B41873CE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143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A083C9-728D-41BD-9E22-CE345099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480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内部版本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5BA88A-335E-4518-A02C-EA3A8CD0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4629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A5 non-ccu 对外可叫 V2，但 API/graph 侧会转 Inner V3 或 V2-&gt;V3 节点。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755703-615A-435D-9352-701F0CF9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38500"/>
            <a:ext cx="5143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9E84B3-C6F4-4C7D-9A63-A3C206E2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480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风险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814DB4-51FD-45B1-B29F-02C83792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29050"/>
            <a:ext cx="4629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HostKfc 头文件未见主 kernel 派发；fallback 的 comm_alg attr 读取需复核 ABI。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8CEAA3-C97A-40AF-AD1F-040FD7BB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32370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3E4EBE-61DC-414C-95FC-597DFC16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端到端调用链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07CFDC-0F6A-465D-B1D9-A428A271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从 public ACLNN 到 host tiling、GenerateTask、AICore kernel 的主链路。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07E1A-92A7-4A02-8513-02C2DA96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D2F7B-79E8-4A5E-99F1-5E5AEB3B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24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200B6-7C42-4637-9696-66668983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Public API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4023E4-0E6E-413B-8523-E168AAB9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050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V2 / V3 / V4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A1E1D-3B76-402C-B0B7-E7E955DB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19250"/>
            <a:ext cx="1524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870051-DA00-4CFC-AEA7-1807B43D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7907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Base 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4C852-5596-48DC-B9C1-9B4E6E0E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050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平台与 comm_alg 分支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78FCB6-D72C-4D28-BBAE-B6F2E73B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19250"/>
            <a:ext cx="1524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9EA72F-7143-4529-B5AC-F55B9EC4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7907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Host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FCADA6-C8FA-4F75-B322-0CE62FEF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050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InferShape / Tiling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EF18E-8FF5-47E5-BBD0-C8295BE8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19250"/>
            <a:ext cx="1524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855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371FFE-0B46-4329-9376-52CDD789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Graph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8B2C23-0165-4BC9-9C5C-7D9AC025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050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Fusion / GenTask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A3952E-B9F6-4220-921D-80095F37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619250"/>
            <a:ext cx="1524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608D29-CC49-4E1A-9DA4-B488C174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907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Kernel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4C5BBB-AE9F-4561-AAD8-476C4569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10502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CCU / MTE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686F36-D9FB-4AE0-BF85-8EFA7D44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8859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2D74ED-4A12-40EF-BABD-78077905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859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1A792B-2FC6-4DE5-AD0A-2BE665E93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859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A2EF23-8D9E-403E-94E0-5C8EE274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85950"/>
            <a:ext cx="4953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BA6BE6-2B7B-4F8F-912A-EFC7D08A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33750"/>
            <a:ext cx="9715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57C6EB-0A91-4FF6-8851-CE5C2FBD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6766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A5 non-ccu：Mc2Context → Inner V3 → V2→V3 Fusion → Mc2MoeGenTaskCallbackV2 → MoeDistributeDispatchV2 / FullMesh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C5A98B-0D7D-4734-8187-405A7D7E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34340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A5 ccu：Inner V2 → 不融合 → A5 CCU Tiling → Mc2Arch35GenTaskCallBack → MoeDistributeDispatchA5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2850C8-4E46-4AB7-8A2D-B7B3477C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698235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EA8B08-B4C5-4BFE-BDA9-28A17082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A5 分支选择矩阵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2D3C1B-C36E-43B3-9436-D07C5BD1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同一个算子在 API、graph、tiling、kernel 的选择条件并不完全相同。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9EE244-72FA-48FC-8ED5-36749F7B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8980D-457F-4598-B20D-C21401ED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52550"/>
            <a:ext cx="10553700" cy="42672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15DA06-0D99-4C04-964B-DA707780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621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层级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C09C0-E981-47E3-A914-0E578338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621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条件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4248AA-1BCF-4973-9A82-12FCF2CF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5621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选择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C67FF4-5899-41B2-8C08-3048F194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66900"/>
            <a:ext cx="10248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48942D-3B27-47C6-9639-D4FEC4AC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240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workspace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E9B0C9-5005-4F47-99F6-93464967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240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A5 non-ccu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D2A4F3-32FC-48C2-907A-EC1E2380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240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Mc2Context + Inner V3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246A42-B670-4314-BD35-2CF304F1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431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workspace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D827C4-7CE7-4761-A13D-8054B355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431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A5 ccu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916A74-7529-4C59-8FBE-44342F4C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Inner V2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B22165-2925-44B0-9669-A1F2E0F8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05100"/>
            <a:ext cx="10248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F36370-8697-423D-85EB-45403D06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Graph fusion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81775E-34E1-47F3-9057-859A64B85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622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A5 non-ccu V2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7EC838-BF0A-4614-91C5-A5E30CD7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622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V2 → V3 + context input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BD31F3-3A14-4F03-9C30-920C5D78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GenerateTask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F182C0-DCD0-4C1B-A1CC-CD63FDC4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813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MTE/fullmesh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241A28-1B22-46E6-A39A-919CFBCD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813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Mc2MoeGenTaskCallbackV2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D7D889-02F2-4FC7-AE42-233FA5AF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43300"/>
            <a:ext cx="10248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81A606-5218-4864-85CE-5FFB0E6E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04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GenerateTask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C1189B-6EB3-44B8-A271-3E9C35D3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6004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ccu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825093-7633-4AF5-80E2-47930890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004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Mc2Arch35GenTaskCallBack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CF784D-06FB-44DB-8A18-04DACD1E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Tiling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92F440-6F5B-474D-AB54-22C49C99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ccu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13966A-9993-4786-BD91-2D46BFFE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195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MoeDistributeDispatchTilingImpl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F77C47-C3E0-4B57-ACB7-E4445592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81500"/>
            <a:ext cx="10248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38B198-762C-4094-AF09-567FE401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386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Tiling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2FD140-66C3-41FE-A591-CD132097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386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空/fullmesh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D8F50F-56D2-4A86-8EEE-F52F6E5A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4386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A3 public tiling + ARCH=A5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58850A-06A6-42EC-A788-6262096C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577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Kernel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511F23-5F7C-4040-BC83-DA238A62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577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ccu / MTE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8D78A2-1B13-4066-8BEB-4FE4CD47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A5 / V2 / FullMesh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D94AF4-76CC-4986-9182-70C559F8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059714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327247-9BFD-4C3C-8403-6291EB109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关键文件层次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F54437-CB92-4AF2-94FB-A318EE37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按 ownership 看，代码分成 API、Host、Graph、Kernel 四块。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95D890-34FE-4DAB-8FBC-F6054F85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599EA-7405-4721-8B91-CA9C3AAF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57300"/>
            <a:ext cx="106299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AB4A1-7AED-4B9D-9D13-15712A45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428750"/>
            <a:ext cx="1095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870A7A-B24C-4A9D-998B-6606BE66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495425"/>
            <a:ext cx="866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op_api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8717F9-F3AC-4E3E-B8F5-24A7E307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28750"/>
            <a:ext cx="633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参数检查、平台识别、Inner V2/V3 分发、HCCL server type 设置。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69947-03D0-4C6A-8376-C0AAC0AF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097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base.cpp 227 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5C6BDA-9250-497A-B2B0-8C8C7008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106299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61A1F-ACA9-4F70-B0E8-11147D31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67000"/>
            <a:ext cx="1095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066B05-8726-464F-81C5-C11AD87A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33675"/>
            <a:ext cx="866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op_host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01D721-F0C0-4A79-8857-0305451D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67000"/>
            <a:ext cx="633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算子原型、InferShape/InferDtype、A5 CCU/MTE tiling。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DD2DF6-DEAC-4774-BDC9-AB7523EF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480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arch35 tiling 1301 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467959-52EF-4F17-9384-0192F6BB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106299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006FE3-A8DC-472D-834D-8D4AFFBD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1095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6E01A5-9A65-43AE-9B07-22CB9932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71925"/>
            <a:ext cx="866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op_graph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B282BD-AA88-4968-B825-3FBC3BA9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05250"/>
            <a:ext cx="633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A5 non-ccu V2→V3 fusion，GenerateTask 选择 MTE/CCU callback。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C9652B-13AB-44D0-8F06-C45456D6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862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fusion 204 行 / gen_task 70 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3B5960-EA10-4BF0-86AD-F3EEAA98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72050"/>
            <a:ext cx="106299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5C3432-A87C-4C06-8AC4-8A8272D7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43500"/>
            <a:ext cx="1095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E3455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D73AF4-710E-44E3-9E78-5BC3612D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10175"/>
            <a:ext cx="866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op_kernel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450891-FDEE-427A-906F-3F6A0C74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43500"/>
            <a:ext cx="6334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global kernel 模板，A5 CCU / MTE / FullMesh 三类实现。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641538-7307-402B-9BDA-B6205773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5245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CCU 1158 行；MTE 1774 行；FullMesh 1940 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337876-2C24-4F63-B4E9-8FEAB059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000209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2F9AEC-EEA6-40FC-A363-8BBB5AED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核心函数职责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087EB3-10A6-4FF4-A08B-37A60105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普通 C++ 函数已统计起止行；大型 AICore 模板方法按源码定位梳理。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59896-6CE7-443E-9FCC-B9276812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62065E-AD31-4576-9932-A9A09971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2476500" cy="3524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24FD27-9775-4C76-A617-93446329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B490A8-051E-4CA7-8062-309C11C4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SetCommArgs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GetWorkspaceSizeBase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DispatchBase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6BB9C-5807-439D-8BAA-F54ABDD5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2057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non-ccu 转 Inner V3；ccu 保持 Inner V2。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2CCB79-BE6C-4C14-9D2C-3B6D879F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466850"/>
            <a:ext cx="2476500" cy="3524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0A4FEA-64AD-4700-835E-251BB764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695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Tiling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40ED37-9259-482F-BEA4-9DC2EC33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47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MoeDistributeDispatchTilingImpl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MoeDistributeDispatchTilingFuncImpl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CalTilingKey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6C9251-3CBE-4A93-896B-7E8CC40F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448050"/>
            <a:ext cx="2057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ccu 走 A5 专用；MTE 复用 A3 并打 A5 tiling key。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620AD1-7252-49D5-A653-D8C5EFBA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66850"/>
            <a:ext cx="2476500" cy="3524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8F36F7-3ED1-4A8B-A7BD-FD02CAFF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95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Graph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0B76B3-BD7D-4E35-B54C-E74850A2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47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Fusion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AddEdge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6CB20E-6027-4164-9A77-EE5B239B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48050"/>
            <a:ext cx="2057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A5 non-ccu 下 V2 节点替换成 V3，并插入 Mc2MoeContext。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8943E9-42D1-48BE-9EFE-5553FCEE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466850"/>
            <a:ext cx="2476500" cy="3524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7F9CFD-0796-4C0F-B789-3A0F7EDE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695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Kernel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9B18F2-65A7-4A9A-B76A-E87A177F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247900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MoeDistributeDispatchA5::Process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V2::Process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FullMesh::Process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81005A-2C12-4A72-B090-6B4E9505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448050"/>
            <a:ext cx="2057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顶层执行 scatter、通信、gather、输出统计。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94B40C-FE95-4FDD-AF69-4EEA43FC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610230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9A8B1F-EE9B-4138-8995-279D8A5A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代码规模热点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F91780-3892-4EB8-BF68-E8BA259F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统计覆盖 23 个核心文件、277 个函数/方法；复杂度集中在 kernel 与 A5 tiling。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0C4F6B-7B5B-4083-B28B-4151CC4F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9AB6D-2B56-4671-9DA3-C9FBB23F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71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FullMesh kernel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468865-8489-4815-AC63-10338BC2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716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95608-CAE5-48BA-BB92-358954BE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71600"/>
            <a:ext cx="60483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BE3455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03D656-D15C-4E2B-9BDA-FB1A23F4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906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1940 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A17C29-6BCF-4BA0-A408-867D99F4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812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MTE kernel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E4033-1B12-4E6F-AAED-D05DB817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812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C029FB-EF59-473B-AE57-F60BE547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81200"/>
            <a:ext cx="553402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C9BB0F-DC20-4F34-9260-E0A95A77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002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1774 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EE940D-203F-4090-8C76-D5E393A2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HostKfc候选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D71267-CB6A-40B9-9704-3E5327D5A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908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2EA863-A502-4EE7-BE09-5726CE6A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90800"/>
            <a:ext cx="67818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F65D73-382E-4A7D-B471-EE6EFF93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098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2177 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5453ED-4DF4-48D0-A191-C36147FC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004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A5 CCU kernel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C03B62-A1B9-4117-A552-9E154804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004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A45C88-0CAC-4D32-8DD5-4B086A5B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00400"/>
            <a:ext cx="3609975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0E8CFC-6047-4217-91D4-4EC8EB84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194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1158 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96D906-5CC7-45A5-A8BB-6BF56C44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A5 tiling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A12B59-4AD1-48A0-AFF9-B24472AF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100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50815C-26F7-42A3-820D-C6519E94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10000"/>
            <a:ext cx="40576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2F855A"/>
          </a:solidFill>
          <a:ln xmlns:a="http://schemas.openxmlformats.org/drawingml/2006/main" w="9525">
            <a:solidFill>
              <a:srgbClr val="2F855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F2C32B-13D7-413C-AAFC-3D7888F5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8290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1301 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401A44-C262-435F-93FF-48760ADC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19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InferShape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1295CB-FC03-400B-875F-CC31F0C9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196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DB4A4E-1854-4F57-95EB-C63C9450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19600"/>
            <a:ext cx="12001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5B6472"/>
          </a:solidFill>
          <a:ln xmlns:a="http://schemas.openxmlformats.org/drawingml/2006/main" w="9525">
            <a:solidFill>
              <a:srgbClr val="5B647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8494BE-64EB-4AA7-AFE4-5B1A5726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4386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385 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BD3A06-83D5-4E9C-BF7C-68FB055D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292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base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A9D011-04A3-4D44-904C-7D3C4378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29200"/>
            <a:ext cx="685800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C1F330-098B-4358-BE13-49600241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29200"/>
            <a:ext cx="7048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5B6472"/>
          </a:solidFill>
          <a:ln xmlns:a="http://schemas.openxmlformats.org/drawingml/2006/main" w="9525">
            <a:solidFill>
              <a:srgbClr val="5B647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BF7879-8CA3-4A55-87F0-A7636C9D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0482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227 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BA5EFB-E9D8-4EC1-8BE8-B0AB2281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245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注：行数为文件总行数；完整文件级与函数级代码行数统计详见 Markdown 附录 14。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7A58FE-31B8-482B-AFFF-E9684ACB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868631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AC381C-383B-4773-8EB5-D4AA1EB8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A5 CCU 数据流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DD72BA-B460-4EE1-9F12-B4E3939F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MoeDistributeDispatchA5 使用 CCU AlltoAllvWrite 完成跨 rank token 交换。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622F7C-4A59-45F5-AE81-00DB9F06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53659E-9E88-4656-806D-F9D780AF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A80A18-9775-427E-BE2D-A5DA41F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Init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42CD60-D78D-497A-B9BD-E5F6ED4D3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09850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tiling / buffer / HCCL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A796CE-FDD8-4390-B5C6-F4D71844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343150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8E30B1-DE59-43FB-9A56-553B546D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0025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A39630-A3CF-4571-BD28-0B0924B5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247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Mask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CDE182-A22E-41F0-B0EC-24652EE4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09850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x_active_mask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2CC35-2481-4F77-A253-4FC5F80F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43150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8981D7-588A-4EA0-8476-21E71B4F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0025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5A530F-33DC-44A6-9E0F-DC4859BE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247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Scatter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DCAF8C-A328-44E1-9967-874EB639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609850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sort ids / write send window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72EF57-0ECE-40EB-A1D3-BA6B5A9C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43150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2D3CEE-3600-4888-B48A-3385671B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00025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087633-D776-4E8D-8DA9-1E2A886A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47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AlltoAll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B18975-A4DC-4110-BCAB-8DCF1B59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609850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CCU AlltoAllvWrite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5B6CEC-F25E-4968-892C-ADB6F154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343150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DCE2"/>
          </a:solidFill>
          <a:ln xmlns:a="http://schemas.openxmlformats.org/drawingml/2006/main" w="0">
            <a:solidFill>
              <a:srgbClr val="D7DC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EF1F1F-E5A5-4F7B-86B8-0BB6AD9E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1524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3B1F66-39EC-4BAE-BAF3-549D0722D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Gather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5823FD-B47B-46BE-B04C-E5B5D159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09850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recv → expand_x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687CAA-A066-4FA6-95A5-5B697276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914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核心类：MoeDistributeDispatchA5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通信窗口：sendBufGM / recvBufGM + 双 buffer status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输出：expand_x、dynamic_scales、expert_token_nums、ep_recv_count、assist_info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1A6387-7BF3-4F0C-A5C1-200A3742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844340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582926-3253-4318-9097-C05D9406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A5 MTE / FullMesh 数据流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045E1F-E546-4805-874C-37FD410F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non-ccu 路径使用 Mc2Context 和 window/flag/cumsum 软同步。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BC4C8C-7867-47C4-99C2-924A2C34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68F9BE-01CA-4B66-BAE3-30099CC9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49530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E506AD-2842-404B-9E01-D6B0770E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MTE non-fullmesh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044EF-670E-445D-B39D-3B50E878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409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Init 读取 context/window/tiling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SendToSharedExpert / SendToMoeExpert 写目标 rank window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AlltoAllDispatch 做状态交换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LocalWindowCopy 连续化输出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A5 特化 WaitStatusA5 / GetCumSumA5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91B8C-400C-4164-894B-F1D4D2F9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428750"/>
            <a:ext cx="49530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C82C45-ACB9-47B7-BA4D-2213BB9E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695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E345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E3455"/>
                </a:solidFill>
                <a:latin typeface="Aptos"/>
                <a:ea typeface="Aptos"/>
                <a:cs typeface="Aptos"/>
              </a:rPr>
              <a:t>FullMesh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E6C3E6-27ED-46F6-8438-2385057F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209800"/>
            <a:ext cx="409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SetTilingDataAndCal 派生 fullmesh 布局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CalExpertSendNum / CalAndSendCntByRank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AllToAllDispatch + flag 区同步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CalCumSum / WaitCumSumFlag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WaitAndFormatOutput / LocalWindowCopy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BF3585-B78F-42AD-90D2-690DA9F6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786320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DEE117-92C4-4D49-8077-48F05213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风险点与后续验证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F3E5DA-31EA-4208-934B-2C9ECD1E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本轮是静态代码分析，未执行 AICore 编译或硬件验证。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04F5C3-66D9-4F6A-88AC-4B6EFC27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143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moe_distribute_dispatch_v2 / A5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6CA346-B4F5-45A2-A34E-64745FB6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90650"/>
            <a:ext cx="9906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ECB0C4-788B-42E3-8FED-EEDB02ED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1925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E3455"/>
          </a:solidFill>
          <a:ln xmlns:a="http://schemas.openxmlformats.org/drawingml/2006/main" w="9525">
            <a:solidFill>
              <a:srgbClr val="BE34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113DD6-8846-47DD-A29D-E7CE4EC7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8592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fallback attr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4C5605-9638-43AB-97F4-7BAB4893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192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fallback_moe_distribute_dispatch_v2.cpp 中 comm_alg 读取方式需结合 ABI 复核。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6E8577-6DE1-48B2-8BF3-113B5253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7450"/>
            <a:ext cx="9906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A588B-3A4B-40D8-9C5D-FEF55851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8605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E1F797-B007-45AC-B8EA-15D83135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5272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HostKfc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EFC702-00E2-41F7-BA9F-56C403D7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860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arch35 HostKfc 逻辑完整但当前主 kernel 未直接派发，需用编译产物确认。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996A8A-92C0-4CDC-9A23-41F0DFFA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9906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8110FE-8A25-479F-A9B4-4124A6E07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5285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0EAC7B-BEBE-48E0-AC43-7A06C63B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81952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TP 约束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6CCA5E-D3BF-4B30-8206-ACBEE0F8E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A5 CCU 当前 tpWorldSize=1；MTE/fullmesh TP 能力依赖 A3 public tiling 约束。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C67057-5F3A-403A-B193-F820D3D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1050"/>
            <a:ext cx="9906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B2E20E-9D1A-4F31-9E6F-F8749CE5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9650"/>
            <a:ext cx="1428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B6CA8C-81E8-4C11-AAAB-C2D7D0DD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8632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验证缺口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9CE9A9-973E-434F-AC72-35DC794F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196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建议补跑 op_host arch35 UT、op_api Ascend950 non-ccu、AICore 编译/仿真。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FC8A05-0C14-467F-9414-58CAD223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836169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A3C67D-25D2-4370-A551-B621410D2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81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A5 CCU kernel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C76CA7-D951-4788-959D-5185916D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20618"/>
                </a:solidFill>
              </a:defRPr>
            </a:pPr>
            <a:r>
              <a:rPr sz="2850" b="1">
                <a:solidFill>
                  <a:srgbClr val="020618"/>
                </a:solidFill>
              </a:rPr>
              <a:t>MoeDistributeDispatchA5::Init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A631CC-E0FA-4017-875F-9115356C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144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建立运行上下文：tiling、GM/UB、量化 payload、CCU 双缓冲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D2C82C-DA01-45AF-9976-0B0ED29C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0A1B9"/>
                </a:solidFill>
              </a:defRPr>
            </a:pPr>
            <a:r>
              <a:rPr sz="1200" b="1">
                <a:solidFill>
                  <a:srgbClr val="90A1B9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032561-D347-4C3B-B13E-79B7C0D8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D94ADA-D226-47B7-BC25-F554F878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72FF70-0BD6-457B-BB82-1D7ACB67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85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Attrs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71BB61-B222-4891-8B4D-9E30DEED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拓扑与规模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CFD283-B0E8-4EF9-9A84-1D506AAD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bs/h/k、EP、expert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localExpertNum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AIV 分工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D6E89F-E2CF-4601-82A6-C68C3BA3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3840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E07B78-1EF9-4F98-81A7-E49E0C3C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8669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C51EBA-7812-4DA5-BB9C-0B3B559D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3835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D2D298-09AC-47DF-B231-BB3AE5D7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085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GM/UB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3928D3-DF4A-447F-A7E9-3947BC95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1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Tensor 绑定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5DC4C1-4B5B-4401-A53F-1C1C1B88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62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x / expert_ids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expand_x / assist_info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sort / hist / cumsum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E377E4-85CB-4824-AE68-8AC86126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3840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C85870-7724-4D6B-A18F-1445A963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669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D92D78-0C29-4505-9CFE-6C816AEB4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3835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80476C-6045-4786-91E4-4A68BDF3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085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Quant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9C110B-8FA7-4C67-AEAC-6F0264F5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1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payload 布局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743005-8C95-4223-84D8-CBC2862E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762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data + scale tail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Align512 通信步长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perRankDataSize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102AF7-68BE-4B58-94C3-25F6BF90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43840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B0EB0A-E65D-4E25-9449-FC6EB729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866900"/>
            <a:ext cx="2381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DB8122-DC00-4575-AD12-94E3875C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038350"/>
            <a:ext cx="819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A3866B-E9D7-413D-9A64-345B28C1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085975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CCU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BBF0BC-A5B5-43F4-B421-B67F744F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41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通信窗口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8103B1-9F9A-4C35-AD7A-FA619808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762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sendBuf / size / offset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windowsOut 双缓冲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45556C"/>
                </a:solidFill>
              </a:defRPr>
            </a:pPr>
            <a:r>
              <a:rPr sz="1200" b="0">
                <a:solidFill>
                  <a:srgbClr val="45556C"/>
                </a:solidFill>
              </a:rPr>
              <a:t>status 0/1 翻转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7859A3-9065-4586-AC8C-59A39C5A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86200"/>
            <a:ext cx="48577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6499B5-418D-4C66-B34C-71DAC13E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3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Init 调用链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4D7979-D4C1-4634-85A3-69B53494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101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InitGlobalAttrs -&gt; InitBuf -&gt; QuantInit -&gt; InitCommAndStatus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AB2C50-5E54-4780-BFA0-674D59D3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86200"/>
            <a:ext cx="48577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BF7F15-433C-4C22-A491-573ED875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13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维护注意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04BD50-F978-41FC-9194-9CCE694F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529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声明参数名顺序与定义/调用点不一致。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45556C"/>
                </a:solidFill>
              </a:defRPr>
            </a:pPr>
            <a:r>
              <a:rPr sz="1275" b="0">
                <a:solidFill>
                  <a:srgbClr val="45556C"/>
                </a:solidFill>
              </a:rPr>
              <a:t>由于均为 GM_ADDR，维护时以定义和调用点为准。</a:t>
            </a:r>
          </a:p>
        </p:txBody>
      </p:sp>
    </p:spTree>
    <p:extLst>
      <p:ext uri="{BB962C8B-B14F-4D97-AF65-F5344CB8AC3E}">
        <p14:creationId xmlns:p14="http://schemas.microsoft.com/office/powerpoint/2010/main" val="117040785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D1C2E4-6469-4503-9419-F3AE8A8B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81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A5 CCU kernel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5F0B12-C05E-479D-AE21-B17A97FB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20618"/>
                </a:solidFill>
              </a:defRPr>
            </a:pPr>
            <a:r>
              <a:rPr sz="2850" b="1">
                <a:solidFill>
                  <a:srgbClr val="020618"/>
                </a:solidFill>
              </a:rPr>
              <a:t>MoeDistributeDispatchA5::Process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6F33B7-C1F1-4EE7-AA00-A3095422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1445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执行链：mask -&gt; scatter -&gt; CCU AlltoAllvWrite -&gt; gather -&gt; finalize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CD4376-1A80-4E0D-BDFC-6432CBAD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381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0A1B9"/>
                </a:solidFill>
              </a:defRPr>
            </a:pPr>
            <a:r>
              <a:rPr sz="1200" b="1">
                <a:solidFill>
                  <a:srgbClr val="90A1B9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550352-2315-4CAA-8A33-B9C4DC06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C39599-1798-4A06-AF84-4956FCDEE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71700"/>
            <a:ext cx="914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5B880E-2BD1-4932-8428-B7DDF5B4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19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AB498D-2306-4325-BCDB-58D7BC64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098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activeBs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50449B-72A2-45EC-AF5E-D8DD3061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812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DBDCF1-9D52-4D45-879C-3B86AECF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98120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63D715-A258-40B7-AC53-96D60988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71700"/>
            <a:ext cx="914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D56CE7-D2A7-4DF6-B825-C81E7A20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219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Scatter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309AF5-8584-46C8-8963-A56F2781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098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sendBuf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C4F442-6992-4F70-945A-81DC6C83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812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CF9698-7D21-435F-B237-FAF99A11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98120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E8850F-04E6-4C9A-9FDE-99133611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71700"/>
            <a:ext cx="914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9380AA-620B-4779-81B1-7EE8EE26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219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CCU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FC9B59-43B1-4D30-B133-708CA1B5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6098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AlltoAllv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E53867-7BF8-426F-A66E-993A9F60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3812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15D556-A0AA-48E7-BEB2-E117D872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8120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58E697-F635-4E69-813B-A5855EF7B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71700"/>
            <a:ext cx="914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0BAA4B-CD5B-4848-A7AE-D15081B7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19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Gather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1BF53F-5EE8-4092-9FB1-F7D25AFD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098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expand_x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C38609-0634-48BE-9D5A-CA28318B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3812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5E2"/>
          </a:solidFill>
          <a:ln xmlns:a="http://schemas.openxmlformats.org/drawingml/2006/main" w="0">
            <a:solidFill>
              <a:srgbClr val="CAD5E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B80B3C-7457-4F3E-8883-E727D60F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98120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B99722-D90A-40E9-89B4-BA6EF216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171700"/>
            <a:ext cx="9144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96D399-FB35-4D17-AE3A-5DB58014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219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E33EF4-A63D-42D4-87DE-D0576668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6098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finalize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B3CC1E-63D8-498F-9298-FFEF8464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32194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5B00C5-8D99-438B-9919-1E90ED9B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14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Scatter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EC6BBD-F82E-45F1-9C4E-1E2D905A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339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sort expert_ids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freq / cumsum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按目标 rank 打包 token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83D523-7606-47A5-B348-F3A6E748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86200"/>
            <a:ext cx="32194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917E78-81A4-4EC5-92E2-DCD332F0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14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Communication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9B58E7-CDE9-41C6-A526-A7909512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33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AIV0 发起 HCCL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其他 AIV 生成 expandIdx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并初始化 gather buffer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1B554D-29C0-4933-AE88-7C75B5D3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86200"/>
            <a:ext cx="32194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FCDC08-9D4E-4BA3-99A6-C4539928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14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20618"/>
                </a:solidFill>
              </a:defRPr>
            </a:pPr>
            <a:r>
              <a:rPr sz="1650" b="1">
                <a:solidFill>
                  <a:srgbClr val="020618"/>
                </a:solidFill>
              </a:rPr>
              <a:t>Gather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2FA092-CE11-4CA5-91A0-9F2C053A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339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recvBuf -&gt; expand_x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scale tail -&gt; dynamic_scales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45556C"/>
                </a:solidFill>
              </a:defRPr>
            </a:pPr>
            <a:r>
              <a:rPr sz="1350" b="0">
                <a:solidFill>
                  <a:srgbClr val="45556C"/>
                </a:solidFill>
              </a:rPr>
              <a:t>统计 expert_token_nums</a:t>
            </a:r>
          </a:p>
        </p:txBody>
      </p:sp>
    </p:spTree>
    <p:extLst>
      <p:ext uri="{BB962C8B-B14F-4D97-AF65-F5344CB8AC3E}">
        <p14:creationId xmlns:p14="http://schemas.microsoft.com/office/powerpoint/2010/main" val="16142866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2026-06-24T06:19:59.2650000Z</dcterms:created>
  <dcterms:modified xsi:type="dcterms:W3CDTF">2026-06-24T06:19:59.2650000Z</dcterms:modified>
</coreProperties>
</file>