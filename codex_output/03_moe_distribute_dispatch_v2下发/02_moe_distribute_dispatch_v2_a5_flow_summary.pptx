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c85de14cf540f4" /><Relationship Type="http://schemas.openxmlformats.org/officeDocument/2006/relationships/extended-properties" Target="/docProps/app.xml" Id="Rf082756cd49f4be2" /><Relationship Type="http://schemas.openxmlformats.org/officeDocument/2006/relationships/officeDocument" Target="/ppt/presentation.xml" Id="R9d48c74e3186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c17b5a0f04f37"/>
  </p:sldMasterIdLst>
  <p:notesMasterIdLst>
    <p:notesMasterId xmlns:r="http://schemas.openxmlformats.org/officeDocument/2006/relationships" r:id="Rf4056ce854524313"/>
  </p:notesMasterIdLst>
  <p:sldIdLst>
    <p:sldId xmlns:r="http://schemas.openxmlformats.org/officeDocument/2006/relationships" id="256" r:id="Ra158ac537b2d4e77"/>
    <p:sldId xmlns:r="http://schemas.openxmlformats.org/officeDocument/2006/relationships" id="257" r:id="Re2285cc7d83a44c2"/>
    <p:sldId xmlns:r="http://schemas.openxmlformats.org/officeDocument/2006/relationships" id="258" r:id="Rab69f7eb5ec84f1c"/>
    <p:sldId xmlns:r="http://schemas.openxmlformats.org/officeDocument/2006/relationships" id="259" r:id="Ra7f7c063cf6d46cf"/>
    <p:sldId xmlns:r="http://schemas.openxmlformats.org/officeDocument/2006/relationships" id="260" r:id="R13424050d4dd4b7b"/>
    <p:sldId xmlns:r="http://schemas.openxmlformats.org/officeDocument/2006/relationships" id="261" r:id="R7ab1c1d7e4a547d3"/>
    <p:sldId xmlns:r="http://schemas.openxmlformats.org/officeDocument/2006/relationships" id="262" r:id="Rc59b276f358c4128"/>
    <p:sldId xmlns:r="http://schemas.openxmlformats.org/officeDocument/2006/relationships" id="263" r:id="Re9585f8df4b04f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63e1264de4ce9" /><Relationship Type="http://schemas.openxmlformats.org/officeDocument/2006/relationships/slideMaster" Target="/ppt/slideMasters/slideMaster1.xml" Id="R932c17b5a0f04f37" /><Relationship Type="http://schemas.openxmlformats.org/officeDocument/2006/relationships/notesMaster" Target="/ppt/notesMasters/notesMaster1.xml" Id="Rf4056ce854524313" /><Relationship Type="http://schemas.openxmlformats.org/officeDocument/2006/relationships/presProps" Target="/ppt/presProps.xml" Id="Re7ce2beb050f4956" /><Relationship Type="http://schemas.openxmlformats.org/officeDocument/2006/relationships/tableStyles" Target="/ppt/tableStyles.xml" Id="R2b6adfcd930744bf" /><Relationship Type="http://schemas.openxmlformats.org/officeDocument/2006/relationships/slide" Target="/ppt/slides/slide1.xml" Id="Ra158ac537b2d4e77" /><Relationship Type="http://schemas.openxmlformats.org/officeDocument/2006/relationships/slide" Target="/ppt/slides/slide2.xml" Id="Re2285cc7d83a44c2" /><Relationship Type="http://schemas.openxmlformats.org/officeDocument/2006/relationships/slide" Target="/ppt/slides/slide3.xml" Id="Rab69f7eb5ec84f1c" /><Relationship Type="http://schemas.openxmlformats.org/officeDocument/2006/relationships/slide" Target="/ppt/slides/slide4.xml" Id="Ra7f7c063cf6d46cf" /><Relationship Type="http://schemas.openxmlformats.org/officeDocument/2006/relationships/slide" Target="/ppt/slides/slide5.xml" Id="R13424050d4dd4b7b" /><Relationship Type="http://schemas.openxmlformats.org/officeDocument/2006/relationships/slide" Target="/ppt/slides/slide6.xml" Id="R7ab1c1d7e4a547d3" /><Relationship Type="http://schemas.openxmlformats.org/officeDocument/2006/relationships/slide" Target="/ppt/slides/slide7.xml" Id="Rc59b276f358c4128" /><Relationship Type="http://schemas.openxmlformats.org/officeDocument/2006/relationships/slide" Target="/ppt/slides/slide8.xml" Id="Re9585f8df4b0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9a212541f4d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5b256897d4a0d" /><Relationship Type="http://schemas.openxmlformats.org/officeDocument/2006/relationships/notesMaster" Target="/ppt/notesMasters/notesMaster1.xml" Id="Rc34c9b2897bc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330cf7c47a4ffc" /><Relationship Type="http://schemas.openxmlformats.org/officeDocument/2006/relationships/notesMaster" Target="/ppt/notesMasters/notesMaster1.xml" Id="R27edc85a37fe4c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1bf78ae1d43f0" /><Relationship Type="http://schemas.openxmlformats.org/officeDocument/2006/relationships/notesMaster" Target="/ppt/notesMasters/notesMaster1.xml" Id="R9acacb1b68ee49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2abd32dfc4058" /><Relationship Type="http://schemas.openxmlformats.org/officeDocument/2006/relationships/notesMaster" Target="/ppt/notesMasters/notesMaster1.xml" Id="Rc941c76e025d4d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ac61d471a54456" /><Relationship Type="http://schemas.openxmlformats.org/officeDocument/2006/relationships/notesMaster" Target="/ppt/notesMasters/notesMaster1.xml" Id="R9a3db3ebfa7d4c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cf43f6e5424b54" /><Relationship Type="http://schemas.openxmlformats.org/officeDocument/2006/relationships/notesMaster" Target="/ppt/notesMasters/notesMaster1.xml" Id="R539ce139904142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3caebf2b544985" /><Relationship Type="http://schemas.openxmlformats.org/officeDocument/2006/relationships/notesMaster" Target="/ppt/notesMasters/notesMaster1.xml" Id="R954e884f21d4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2dc1fdaf274564" /><Relationship Type="http://schemas.openxmlformats.org/officeDocument/2006/relationships/notesMaster" Target="/ppt/notesMasters/notesMaster1.xml" Id="Rfc97f044ac8a41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e455e28b0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5a5ce76444194" /><Relationship Type="http://schemas.openxmlformats.org/officeDocument/2006/relationships/slideLayout" Target="/ppt/slideLayouts/slideLayout1.xml" Id="R302838706e35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2838706e35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bd30b5b754d59" /><Relationship Type="http://schemas.openxmlformats.org/officeDocument/2006/relationships/notesSlide" Target="/ppt/notesSlides/notesSlide1.xml" Id="R52af9e20067a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8179f7eb343cd" /><Relationship Type="http://schemas.openxmlformats.org/officeDocument/2006/relationships/notesSlide" Target="/ppt/notesSlides/notesSlide2.xml" Id="R989539106a02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a92f4dc51498b" /><Relationship Type="http://schemas.openxmlformats.org/officeDocument/2006/relationships/notesSlide" Target="/ppt/notesSlides/notesSlide3.xml" Id="R8a4345b8f40e49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6c28de6394369" /><Relationship Type="http://schemas.openxmlformats.org/officeDocument/2006/relationships/notesSlide" Target="/ppt/notesSlides/notesSlide4.xml" Id="R1f6f702f2f3c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b2d63c6ac42eb" /><Relationship Type="http://schemas.openxmlformats.org/officeDocument/2006/relationships/notesSlide" Target="/ppt/notesSlides/notesSlide5.xml" Id="Rff2b7b7420c442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2d235fc454c29" /><Relationship Type="http://schemas.openxmlformats.org/officeDocument/2006/relationships/notesSlide" Target="/ppt/notesSlides/notesSlide6.xml" Id="R757c717daaa241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407db83e14ed2" /><Relationship Type="http://schemas.openxmlformats.org/officeDocument/2006/relationships/notesSlide" Target="/ppt/notesSlides/notesSlide7.xml" Id="Ra152607e6eaa43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d8808e2ef4b45" /><Relationship Type="http://schemas.openxmlformats.org/officeDocument/2006/relationships/notesSlide" Target="/ppt/notesSlides/notesSlide8.xml" Id="R25dd4c8b35b24a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44EB2-E325-43BB-B9C4-64C008B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632DC-FFDA-4EAA-B991-859A2DAA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8763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742C8-CDAE-47E8-8466-AB15F85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moe_distribute_dispatch_v2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44C3-901E-43DA-9C90-7147ABD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4ED8"/>
                </a:solidFill>
              </a:defRPr>
            </a:pPr>
            <a:r>
              <a:rPr sz="2250" b="1">
                <a:solidFill>
                  <a:srgbClr val="1D4ED8"/>
                </a:solidFill>
              </a:rPr>
              <a:t>A5 下发与运行流程总结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D43F2-65D6-4CB3-A1D2-AC5A7FC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核心结论：A5/DAV_3510 不是单一路径，而是由 comm_alg 驱动 CCU 与 MTE/fullmesh 两条完整链路。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C01BA-A4E5-4032-A954-B468ADE4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28700"/>
            <a:ext cx="34290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581B2-31F2-48BA-AD5D-557CB73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76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9F8D"/>
                </a:solidFill>
              </a:defRPr>
            </a:pPr>
            <a:r>
              <a:rPr sz="1800" b="1">
                <a:solidFill>
                  <a:srgbClr val="0F9F8D"/>
                </a:solidFill>
              </a:rPr>
              <a:t>CCU 分支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3DB6F-1E89-4518-8D41-058A918E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43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36143-DAEC-4ABB-925F-F7ACBBD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Graph: ccu server / ccu_stream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11479-C1DD-4E64-A271-66A5145F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28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02409-B1E7-4399-B7C4-C7084BA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Host Tiling: arch35 OP_VERSION_2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819BE-64F6-4014-B911-6830F46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14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3F22F-BB7D-4355-98B4-82626CA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Kernel: MoeDistributeDispatchA5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22D21-4977-4B41-8BB5-16CC173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4290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4D4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481F2-76DF-4877-8226-1288FF0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7700"/>
                </a:solidFill>
              </a:defRPr>
            </a:pPr>
            <a:r>
              <a:rPr sz="1800" b="1">
                <a:solidFill>
                  <a:srgbClr val="C77700"/>
                </a:solidFill>
              </a:rPr>
              <a:t>MTE / FullMesh 分支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63757-6F94-4249-947A-C52D88A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90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700"/>
          </a:solidFill>
          <a:ln xmlns:a="http://schemas.openxmlformats.org/drawingml/2006/main" w="0">
            <a:solidFill>
              <a:srgbClr val="C777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6527E-DD1D-4EF4-8350-8D3BEEB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Graph: MC2 MOE V2 callback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8BC6D-FAED-4DF7-B3B2-9A3ECA89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700"/>
          </a:solidFill>
          <a:ln xmlns:a="http://schemas.openxmlformats.org/drawingml/2006/main" w="0">
            <a:solidFill>
              <a:srgbClr val="C777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1FE97-67BA-459C-83AD-69E830B1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ACLNN: A5 非 ccu 优先 inner 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7E5B8-204D-48C1-BC3A-21AFECB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62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700"/>
          </a:solidFill>
          <a:ln xmlns:a="http://schemas.openxmlformats.org/drawingml/2006/main" w="0">
            <a:solidFill>
              <a:srgbClr val="C777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97D5A-073F-408C-A957-5BB09C0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Kernel: V2 / FullMesh 模板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BBB5D-D724-4AAF-8C8D-25D3326C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输出基于源码静态分析</a:t>
            </a:r>
          </a:p>
        </p:txBody>
      </p:sp>
    </p:spTree>
    <p:extLst>
      <p:ext uri="{BB962C8B-B14F-4D97-AF65-F5344CB8AC3E}">
        <p14:creationId xmlns:p14="http://schemas.microsoft.com/office/powerpoint/2010/main" val="780999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B3D57-9753-4B4F-A471-EEF1C50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3D3D3-4572-4F7E-A472-34500CD2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一张表看清 A5 两条下发路径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CEE11-0F76-4E5B-9EDB-CBFDCF49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12DFA-887A-4579-9FB5-9A78E42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2C239-8839-40BB-9DC1-13A4237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71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A2A8F-444B-4F5D-B441-174E76D2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CCU 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A3E9A-C226-4310-BE46-09AC107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77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MTE / FullMesh 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365CA-C071-45E0-AEEE-528C749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关键分歧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1BAD9-1F7E-47D6-9F9F-3BC6FB8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排查关注点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F3BF6-1A33-4B46-9A71-23F2BD18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43F5F-993D-4DD2-B5FA-4B08C6C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ACLNN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E1AFC-95F2-47FD-A0BC-FD662E13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30939-DA9B-44E4-BB0F-F21F13B6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6F64"/>
                </a:solidFill>
              </a:defRPr>
            </a:pPr>
            <a:r>
              <a:rPr sz="1050" b="0">
                <a:solidFill>
                  <a:srgbClr val="0B6F64"/>
                </a:solidFill>
              </a:rPr>
              <a:t>inner V2 + HCCL_SERVER_TYPE_CCU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76BE6-43BF-49E1-9A90-E8922C6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62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CC16A-E5A5-4C59-9E91-97D40E5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076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5400"/>
                </a:solidFill>
              </a:defRPr>
            </a:pPr>
            <a:r>
              <a:rPr sz="1050" b="0">
                <a:solidFill>
                  <a:srgbClr val="8A5400"/>
                </a:solidFill>
              </a:rPr>
              <a:t>inner V3 新模板 + MTE/AIV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61306-1172-4910-A33D-CD79A0B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297A9-73DD-4D34-B0BC-C1845BAB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76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executor user handle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98522-34F1-47CB-905D-D9ED13FD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62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3C306-791A-404F-8BA9-7EA93A0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76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base.cpp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4DED6-7DAE-42CD-9A26-D314F14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31A63-E429-406F-8D08-EB446FB0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BE9EA-71C7-44FC-B911-7747B08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4059B-9399-4B26-A949-24DBCE68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38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6F64"/>
                </a:solidFill>
              </a:defRPr>
            </a:pPr>
            <a:r>
              <a:rPr sz="1050" b="0">
                <a:solidFill>
                  <a:srgbClr val="0B6F64"/>
                </a:solidFill>
              </a:rPr>
              <a:t>ccu server / ccu_stream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D5B00-9E6C-466C-8DA7-69BB324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ACC90-5CFC-4797-A8B7-9E3E9B0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38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5400"/>
                </a:solidFill>
              </a:defRPr>
            </a:pPr>
            <a:r>
              <a:rPr sz="1050" b="0">
                <a:solidFill>
                  <a:srgbClr val="8A5400"/>
                </a:solidFill>
              </a:rPr>
              <a:t>aicpu kfc server / kfc_stream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BC4A32-B9F5-438B-B962-1879BDE1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EEFBD-95EB-44CE-9CCF-D8F6646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task callback 不同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F4D98-FF05-4A86-9C61-4307C54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24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C785B-A027-49AE-8A6F-E4E610B3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38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op_graph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6F447-DE0E-45EA-87F6-995ED77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5D96D-E357-4529-9EEE-437C2CD1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Host Tiling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D60DC-F309-4366-B217-6E4C969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B9478-E4D1-4DC5-853C-2C79054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0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6F64"/>
                </a:solidFill>
              </a:defRPr>
            </a:pPr>
            <a:r>
              <a:rPr sz="1050" b="0">
                <a:solidFill>
                  <a:srgbClr val="0B6F64"/>
                </a:solidFill>
              </a:rPr>
              <a:t>arch35 OP_VERSION_2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A0198A-32BB-44B0-BB2D-C7C6321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86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534A4-A9C9-4E2E-AFEB-8899F08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00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5400"/>
                </a:solidFill>
              </a:defRPr>
            </a:pPr>
            <a:r>
              <a:rPr sz="1050" b="0">
                <a:solidFill>
                  <a:srgbClr val="8A5400"/>
                </a:solidFill>
              </a:rPr>
              <a:t>A3 public tiling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01EB3A-53E3-49AA-900E-1F6CD2C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7A6BB-447A-48BE-9EEF-4E46338B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comm_alg 路由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5D8314-03EE-4552-8826-25E6957A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86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E57BC-A0DC-495D-A0D5-9814B13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00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arch35 tiling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388997-9B67-4D26-AE6A-4D64D2A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06F752-95F2-4A2D-898C-7C3F167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Kernel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665AE4-9587-40ED-BE27-874B4CA6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8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201492-CF0C-4C82-AF16-8E3DA41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6F64"/>
                </a:solidFill>
              </a:defRPr>
            </a:pPr>
            <a:r>
              <a:rPr sz="1050" b="0">
                <a:solidFill>
                  <a:srgbClr val="0B6F64"/>
                </a:solidFill>
              </a:rPr>
              <a:t>MoeDistributeDispatchA5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1B31DC-23E6-4AE7-8355-3E7CC70D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48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0B77FE-A207-443E-9917-5444C61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62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5400"/>
                </a:solidFill>
              </a:defRPr>
            </a:pPr>
            <a:r>
              <a:rPr sz="1050" b="0">
                <a:solidFill>
                  <a:srgbClr val="8A5400"/>
                </a:solidFill>
              </a:rPr>
              <a:t>V2 / FullMesh 模板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C45C3A-FA87-4C28-B9B7-00512A1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585F58-D9FC-401F-811F-1F1C18E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tiling key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D96B48-D67B-48DF-B862-5D5419F1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48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7DC172-0D0C-445F-9E3B-7A7C6A4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62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kernel entry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D86A4F-EC50-4E5B-ABBC-9DEAA00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592F74-1D8C-4A1D-B666-DAC6C72D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FFBABA-4CC4-4BE7-BA84-8F4155AD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59B257-3A72-4A7C-8CA8-F7DFABB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24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6F64"/>
                </a:solidFill>
              </a:defRPr>
            </a:pPr>
            <a:r>
              <a:rPr sz="1050" b="0">
                <a:solidFill>
                  <a:srgbClr val="0B6F64"/>
                </a:solidFill>
              </a:rPr>
              <a:t>Scatter + AlltoAllvWrite + Gather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D3EF7D-5F37-4192-AE22-F74B8FA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10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BEFB49-840C-4F00-85C8-F3183DF7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124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A5400"/>
                </a:solidFill>
              </a:defRPr>
            </a:pPr>
            <a:r>
              <a:rPr sz="1050" b="0">
                <a:solidFill>
                  <a:srgbClr val="8A5400"/>
                </a:solidFill>
              </a:rPr>
              <a:t>Window/status + optional AllGather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22F04D-C1A3-4FE9-8BC7-280A7D45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0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7AA8DC-40FE-40ED-A613-269FB101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24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通信机制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A9D992-72A2-4E6D-8C69-BDF14C8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01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FCA694-4438-46C3-A8F6-02ADF1BE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124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Process()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FF7171-85A0-46BF-AEE6-6821DAF0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来源：分析文档第 2、4、5、7、9、10、11 节</a:t>
            </a:r>
          </a:p>
        </p:txBody>
      </p:sp>
    </p:spTree>
    <p:extLst>
      <p:ext uri="{BB962C8B-B14F-4D97-AF65-F5344CB8AC3E}">
        <p14:creationId xmlns:p14="http://schemas.microsoft.com/office/powerpoint/2010/main" val="928543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1C441-0237-4779-A3C4-6A6975A4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E1C3C-98CA-477D-B524-390CD6D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入口层：ACLNN 与 Graph GenTask 同时分叉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3997E-D7C7-44A4-AE9D-EA0A2EA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95F7-67BB-4A5D-84FF-A96A837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87581-C9BF-4111-8B41-BAF9BB65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ACLNN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0BB7-2B85-48C3-BC30-687AA04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381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aclnnMoeDistributeDispatchV2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GetWorkspaceSize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EFBE6-538A-4270-9C7C-C7ECE93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66900"/>
            <a:ext cx="2343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base: 判断 DAV_3510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复制 group / comm_alg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7740B-F488-435A-BA83-D1FA945E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21336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9F8D"/>
                </a:solidFill>
              </a:defRPr>
            </a:pPr>
            <a:r>
              <a:rPr sz="1275" b="1">
                <a:solidFill>
                  <a:srgbClr val="0F9F8D"/>
                </a:solidFill>
              </a:rPr>
              <a:t>ccu</a:t>
            </a:r>
          </a:p>
          <a:p xmlns:a="http://schemas.openxmlformats.org/drawingml/2006/main">
            <a:pPr algn="ctr">
              <a:defRPr sz="1275" b="1">
                <a:solidFill>
                  <a:srgbClr val="0F9F8D"/>
                </a:solidFill>
              </a:defRPr>
            </a:pPr>
            <a:r>
              <a:rPr sz="1275" b="1">
                <a:solidFill>
                  <a:srgbClr val="0F9F8D"/>
                </a:solidFill>
              </a:rPr>
              <a:t>inner V2 + CCU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3D299-0B12-4163-ADF4-C961BBB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21336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4D4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7700"/>
                </a:solidFill>
              </a:defRPr>
            </a:pPr>
            <a:r>
              <a:rPr sz="1275" b="1">
                <a:solidFill>
                  <a:srgbClr val="C77700"/>
                </a:solidFill>
              </a:rPr>
              <a:t>非 ccu</a:t>
            </a:r>
          </a:p>
          <a:p xmlns:a="http://schemas.openxmlformats.org/drawingml/2006/main">
            <a:pPr algn="ctr">
              <a:defRPr sz="1275" b="1">
                <a:solidFill>
                  <a:srgbClr val="C77700"/>
                </a:solidFill>
              </a:defRPr>
            </a:pPr>
            <a:r>
              <a:rPr sz="1275" b="1">
                <a:solidFill>
                  <a:srgbClr val="C77700"/>
                </a:solidFill>
              </a:rPr>
              <a:t>Mc2Context + inner V3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86100" y="2219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1838325"/>
            <a:ext cx="57150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00750" y="2219325"/>
            <a:ext cx="5715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08316-4492-4F52-A8EE-FE7EA193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Graph 下发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7A8A7-3556-4D0A-ABB5-471D873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381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CalcOpParam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GenerateTask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4395C-B834-42DA-A242-62F21A1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19600"/>
            <a:ext cx="2343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IsTargetPlatformNpuArch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NPUARCH_A5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C8EA1-9A89-4BEF-B557-F0A9A20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21336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9F8D"/>
                </a:solidFill>
              </a:defRPr>
            </a:pPr>
            <a:r>
              <a:rPr sz="1275" b="1">
                <a:solidFill>
                  <a:srgbClr val="0F9F8D"/>
                </a:solidFill>
              </a:rPr>
              <a:t>ccu server</a:t>
            </a:r>
          </a:p>
          <a:p xmlns:a="http://schemas.openxmlformats.org/drawingml/2006/main">
            <a:pPr algn="ctr">
              <a:defRPr sz="1275" b="1">
                <a:solidFill>
                  <a:srgbClr val="0F9F8D"/>
                </a:solidFill>
              </a:defRPr>
            </a:pPr>
            <a:r>
              <a:rPr sz="1275" b="1">
                <a:solidFill>
                  <a:srgbClr val="0F9F8D"/>
                </a:solidFill>
              </a:rPr>
              <a:t>Arch35 callback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85803-AB3D-44D5-9F21-026BAE2C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21336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4D4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700"/>
                </a:solidFill>
              </a:defRPr>
            </a:pPr>
            <a:r>
              <a:rPr sz="1200" b="1">
                <a:solidFill>
                  <a:srgbClr val="C77700"/>
                </a:solidFill>
              </a:rPr>
              <a:t>kfc_stream</a:t>
            </a:r>
          </a:p>
          <a:p xmlns:a="http://schemas.openxmlformats.org/drawingml/2006/main">
            <a:pPr algn="ctr">
              <a:defRPr sz="1200" b="1">
                <a:solidFill>
                  <a:srgbClr val="C77700"/>
                </a:solidFill>
              </a:defRPr>
            </a:pPr>
            <a:r>
              <a:rPr sz="1200" b="1">
                <a:solidFill>
                  <a:srgbClr val="C77700"/>
                </a:solidFill>
              </a:rPr>
              <a:t>MC2 MOE V2 callback</a:t>
            </a:r>
          </a:p>
        </p:txBody>
      </p: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86100" y="47720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000750" y="4391025"/>
            <a:ext cx="57150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00750" y="4772025"/>
            <a:ext cx="5715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8D9FC-98CF-4BC0-8709-626762F2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1809750" cy="3714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B532F-4FD6-4A6D-97E8-04A3CC8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0A48B-02C3-4DA6-9387-927D7302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1F49B-E259-45CB-8475-9D5D219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API 侧决定 inner executor 与 HCCL server 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06BDC-3CD0-4EFC-8C0E-B8C0D4E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C8044-FFA4-4819-8B7C-438099BD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Graph 侧决定 KFC server、stream 与 task callback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3C327-10AA-4870-900F-DDB6D107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EEAFFA-C717-4F9E-9CDF-6E6DB748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8620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两者都必须和 comm_alg 保持一致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F87868-096C-49C9-91F9-699A381C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源码：op_api/*base.cpp；op_graph/moe_distribute_dispatch_v2_gen_task.cpp</a:t>
            </a:r>
          </a:p>
        </p:txBody>
      </p:sp>
    </p:spTree>
    <p:extLst>
      <p:ext uri="{BB962C8B-B14F-4D97-AF65-F5344CB8AC3E}">
        <p14:creationId xmlns:p14="http://schemas.microsoft.com/office/powerpoint/2010/main" val="886290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9F4D9-23CA-4B61-85E3-E52E5BA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84596-D42C-4697-BE9B-BCEB1177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Host Tiling：CCU 走 arch35，MTE 复用 public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31825-90A0-43B1-9D6F-8C9B3AFB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53764-7C2F-4550-9AD4-B184D1D9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A81B1-7810-40E4-8688-2E3826A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读取 attrs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comm_alg / EP / TP / expert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70321-AFC5-4F9F-B9C8-96F39D39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04950"/>
            <a:ext cx="2000250" cy="971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comm_alg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== ccu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FD9A3-5D71-45EB-B2D4-66365987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3825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9F8D"/>
                </a:solidFill>
              </a:defRPr>
            </a:pPr>
            <a:r>
              <a:rPr sz="1125" b="1">
                <a:solidFill>
                  <a:srgbClr val="0F9F8D"/>
                </a:solidFill>
              </a:rPr>
              <a:t>MoeDistributeDispatch</a:t>
            </a:r>
          </a:p>
          <a:p xmlns:a="http://schemas.openxmlformats.org/drawingml/2006/main">
            <a:pPr algn="ctr">
              <a:defRPr sz="1125" b="1">
                <a:solidFill>
                  <a:srgbClr val="0F9F8D"/>
                </a:solidFill>
              </a:defRPr>
            </a:pPr>
            <a:r>
              <a:rPr sz="1125" b="1">
                <a:solidFill>
                  <a:srgbClr val="0F9F8D"/>
                </a:solidFill>
              </a:rPr>
              <a:t>TilingImpl(OP_VERSION_2)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92233-3031-4568-BC0D-EFBC852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190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4D4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7700"/>
                </a:solidFill>
              </a:defRPr>
            </a:pPr>
            <a:r>
              <a:rPr sz="1125" b="1">
                <a:solidFill>
                  <a:srgbClr val="C77700"/>
                </a:solidFill>
              </a:rPr>
              <a:t>MoeDistributeDispatch</a:t>
            </a:r>
          </a:p>
          <a:p xmlns:a="http://schemas.openxmlformats.org/drawingml/2006/main">
            <a:pPr algn="ctr">
              <a:defRPr sz="1125" b="1">
                <a:solidFill>
                  <a:srgbClr val="C77700"/>
                </a:solidFill>
              </a:defRPr>
            </a:pPr>
            <a:r>
              <a:rPr sz="1125" b="1">
                <a:solidFill>
                  <a:srgbClr val="C77700"/>
                </a:solidFill>
              </a:rPr>
              <a:t>A3TilingFuncImplPublic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19907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657850" y="1600200"/>
            <a:ext cx="83820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57850" y="1990725"/>
            <a:ext cx="8382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C2DD7-7B38-42E4-A52C-6005BB3E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809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输出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workspace + tilingData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+ tilingKey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86800" y="1600200"/>
            <a:ext cx="74295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686800" y="2152650"/>
            <a:ext cx="74295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7B76-D081-4BC4-8FB6-34F8334A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CCU 关键检查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9C0E9-78D9-4E9D-9299-F5FC6AC0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F1311-74E9-4D7A-80DE-A4DCAD46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ep_world_size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B48CE-F5B4-47D1-BF50-931BFCD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76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[2, 1024]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58BCE-34BF-40FF-9913-079ADE4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DC83E-ACFD-4DA5-BA7B-CEF22F90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tp_world_size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DFA77-0817-4930-940F-148054E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76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14A44"/>
                </a:solidFill>
              </a:defRPr>
            </a:pPr>
            <a:r>
              <a:rPr sz="1200" b="1">
                <a:solidFill>
                  <a:srgbClr val="D14A44"/>
                </a:solidFill>
              </a:rPr>
              <a:t>当前强制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B8F89-88B6-4047-B005-5729E66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59BB3-E16F-44D3-B415-BB1277D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moe_expert_num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4CD66-3303-4641-B0A4-C604D589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76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&lt;= 1024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5A91F-09A9-4EF7-835F-19D90BE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9A495-9F08-4A12-A267-F626E688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3825E-958C-4CB9-A5E4-524E47B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9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[1024, 8192]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89E9D-CB4C-47AA-A2CE-E484A8E7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E2350-444F-4B99-A662-AB266C6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196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9642C-2A5F-43AE-8CA3-7B87B3C9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9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&lt;= 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8548B-A796-48FD-8261-6E02D2C3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295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27F25-C7E7-4BA5-82B9-B813B1B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196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workspace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17669-2D07-4704-A6B8-9948F803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96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窗口大小校验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26C85-5C69-4A34-89DA-58B8994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源码：op_host/op_tiling/arch35/moe_distribute_dispatch_v2_tiling_arch35.cpp</a:t>
            </a:r>
          </a:p>
        </p:txBody>
      </p:sp>
    </p:spTree>
    <p:extLst>
      <p:ext uri="{BB962C8B-B14F-4D97-AF65-F5344CB8AC3E}">
        <p14:creationId xmlns:p14="http://schemas.microsoft.com/office/powerpoint/2010/main" val="393297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C35CD-8318-41E6-8BAF-A49E465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A6FA2-4B68-407D-896B-739014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TilingKey 把 Host 决策映射到 Kernel 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6E7B7-FFD6-4BCF-B404-EFB8A27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30C2-6262-49D3-93F8-864E9AC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E3329-AFFC-4907-8B14-349B29B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F9C7C-F51D-4712-AC95-F7E5227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FCDBB-3932-415D-A4FA-0B092CC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3E236-0E93-4B8E-BA6E-9B8EA99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C3C6-8823-47D1-893D-614E519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Quant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46C0E-69EC-4F90-A848-5D9E2C1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no / static /</a:t>
            </a:r>
          </a:p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pertoken /</a:t>
            </a:r>
          </a:p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pergroup / mx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58911-AB21-48C9-A15A-C4C35054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C358A-CB57-4165-A349-CB6FC7B9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1328A-9993-4A5B-A911-079EB14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0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86D3A-0CFE-49CA-89C9-232E4402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2F79-C01C-4C64-B44A-3C2234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FullMesh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00729-C13B-4CC5-B5F0-5F64682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no / fullmesh / hierarchy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5B697-1F54-48F0-BE81-0944A5F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75622-3B8D-4E67-BD95-4E3D540A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F2232-099D-4A1B-8E36-D2EC739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MTE / AICPU / CCU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8138D-6BCF-4619-9075-832F3E5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0970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781E4-3016-49DF-9358-A4F2BE94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62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EA3DB-79FE-4102-BF9B-D9F13DF4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6690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17086"/>
                </a:solidFill>
              </a:defRPr>
            </a:pPr>
            <a:r>
              <a:rPr sz="900" b="0">
                <a:solidFill>
                  <a:srgbClr val="617086"/>
                </a:solidFill>
              </a:rPr>
              <a:t>A2 / A3 / 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0891A-68A5-4CE9-B7C4-DCAD8A1F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3336E-F9D9-455E-AB35-0FB4C2FB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A5 分支映射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B120C-512F-46AF-B153-D0A1BF1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04800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DAC21-8778-44CB-B8F0-9A632F5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9F8D"/>
                </a:solidFill>
              </a:defRPr>
            </a:pPr>
            <a:r>
              <a:rPr sz="1950" b="1">
                <a:solidFill>
                  <a:srgbClr val="0F9F8D"/>
                </a:solidFill>
              </a:rPr>
              <a:t>CCU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50231-272F-459F-9876-616FAF5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ARCH=A5, COMM=CCU</a:t>
            </a:r>
          </a:p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FULLMESH=NO, TP=false</a:t>
            </a:r>
          </a:p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Kernel: MoeDistributeDispatchA5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08BE9-F9FF-4040-9479-0FBA77BE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325755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4D4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D0B8C-2D5A-49CD-9194-7EF32A61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86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7700"/>
                </a:solidFill>
              </a:defRPr>
            </a:pPr>
            <a:r>
              <a:rPr sz="1800" b="1">
                <a:solidFill>
                  <a:srgbClr val="C77700"/>
                </a:solidFill>
              </a:rPr>
              <a:t>MTE /</a:t>
            </a:r>
          </a:p>
          <a:p xmlns:a="http://schemas.openxmlformats.org/drawingml/2006/main">
            <a:pPr>
              <a:defRPr sz="1800" b="1">
                <a:solidFill>
                  <a:srgbClr val="C77700"/>
                </a:solidFill>
              </a:defRPr>
            </a:pPr>
            <a:r>
              <a:rPr sz="1800" b="1">
                <a:solidFill>
                  <a:srgbClr val="C77700"/>
                </a:solidFill>
              </a:rPr>
              <a:t>FullMesh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74F21-90BA-4D54-9237-BB39A75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148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ARCH=A5, COMM=MTE</a:t>
            </a:r>
          </a:p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FULLMESH 可选</a:t>
            </a:r>
          </a:p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Kernel: V2 或 FullMesh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5BEC81-627A-494D-8D5B-FC023349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95700"/>
            <a:ext cx="238125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742007-5F9A-4B34-9B0E-EC976F6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统一入口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EAC46-D3FC-46CB-B814-86636B2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moe_distribute_dispatch_v2.cpp</a:t>
            </a:r>
          </a:p>
          <a:p xmlns:a="http://schemas.openxmlformats.org/drawingml/2006/main">
            <a:pPr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按 __NPU_ARCH__ == 3510</a:t>
            </a:r>
          </a:p>
          <a:p xmlns:a="http://schemas.openxmlformats.org/drawingml/2006/main">
            <a:pPr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和 tiling key 派发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D235D-DA4C-4CD5-8D23-D8027B51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源码：op_kernel/moe_distribute_dispatch_v2_tiling_key.h；op_kernel/moe_distribute_dispatch_v2.cpp</a:t>
            </a:r>
          </a:p>
        </p:txBody>
      </p:sp>
    </p:spTree>
    <p:extLst>
      <p:ext uri="{BB962C8B-B14F-4D97-AF65-F5344CB8AC3E}">
        <p14:creationId xmlns:p14="http://schemas.microsoft.com/office/powerpoint/2010/main" val="1324407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B44A7-2DB3-4C94-9D87-2D2B717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4023F-B912-43E0-869C-47D5149E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A5 CCU Device：显式 Scatter / AlltoAllv / Gather 流水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6D72-0095-48FF-B813-6B4163F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D853-C541-4AE1-811F-C607568C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87400-D348-4BB9-A156-E33AED39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09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AA267-BF65-466A-9984-24676EA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EA6DA-86EB-4C36-9A58-975BA137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CalcTokenActiveMask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69A5F-50A1-44C0-BBBC-0EBAEEF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可选 x_active_mask</a:t>
            </a:r>
          </a:p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计算 activeBs / activeBsKNum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203C8-3E98-407E-99B6-F1E4431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1809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6CD88-636A-4A11-80C3-F850E38D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A98-2124-48AF-831F-AA780EAC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TokenScatter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03C3E-DEF9-490C-80BB-D5F2DBC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765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expert_ids 排序</a:t>
            </a:r>
          </a:p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写 sendBuf / count / offset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76500" y="2247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6CD0F-F41E-4B84-B180-318B2E53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04950"/>
            <a:ext cx="1809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BCEC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0F17D-18D0-453C-8991-804C0182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D3EF3-DB85-4A59-BDE3-838800B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FF21F-653A-4860-858E-B093B0BD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765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AlltoAllvWrite</a:t>
            </a:r>
          </a:p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SaveExpandIdx + Wait</a:t>
            </a:r>
          </a:p>
        </p:txBody>
      </p: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14875" y="2247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243B5-921E-4BB9-B231-0F466E0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04950"/>
            <a:ext cx="1809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C8658-B1AF-415E-B398-055DA5E9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95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EB4C3-9EA9-4063-9A8E-BFA08DC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TokenGather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6CF44-5B99-4C00-AFCC-87DC7491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765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读取 recv count</a:t>
            </a:r>
          </a:p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写 expand_x / scales / token_nums</a:t>
            </a:r>
          </a:p>
        </p:txBody>
      </p: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53250" y="2247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0C3F6B-B869-4C80-A736-66A23673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04950"/>
            <a:ext cx="18097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87917-B9F3-401B-B9B9-A4A6E62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57BBC-98A0-402A-95E9-AE3C74E5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Finalize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EBD92-791C-49BE-90C4-69A1930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7086"/>
                </a:solidFill>
              </a:defRPr>
            </a:pPr>
            <a:r>
              <a:rPr sz="975" b="0">
                <a:solidFill>
                  <a:srgbClr val="617086"/>
                </a:solidFill>
              </a:rPr>
              <a:t>aiv0 清理 HCCL</a:t>
            </a:r>
          </a:p>
        </p:txBody>
      </p:sp>
      <p:cxnSp>
        <p:nvCxnSpPr>
          <p:cNvPr id="68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191625" y="2247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9F8D"/>
            </a:solidFill>
            <a:prstDash val="solid"/>
            <a:head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CA34C-A085-4FB2-BB06-0E51620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CCU Process 核心伪代码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B32B26-9E9F-472E-99B4-4C6E454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01015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solidFill>
              <a:srgbClr val="1020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0AA6B-D44A-4EA5-8663-7B53D978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4514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if ASCEND_IS_AIV {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  if (isTokenMaskFlag_) CalcTokenActiveMask();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  TokenScatter();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  Communication();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  TokenGather();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  if (aivId_ == 0) hccl_.Finalize();</a:t>
            </a:r>
          </a:p>
          <a:p xmlns:a="http://schemas.openxmlformats.org/drawingml/2006/main">
            <a:pPr>
              <a:defRPr sz="1050" b="0">
                <a:solidFill>
                  <a:srgbClr val="E8F2FF"/>
                </a:solidFill>
              </a:defRPr>
            </a:pPr>
            <a:r>
              <a:rPr sz="1050" b="0">
                <a:solidFill>
                  <a:srgbClr val="E8F2FF"/>
                </a:solidFill>
              </a:rPr>
              <a:t>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F28416-C00B-475B-B772-F34FFCD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46101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E3480F-E34B-4238-88BF-2EEE209D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9F8D"/>
                </a:solidFill>
              </a:defRPr>
            </a:pPr>
            <a:r>
              <a:rPr sz="1650" b="1">
                <a:solidFill>
                  <a:srgbClr val="0F9F8D"/>
                </a:solidFill>
              </a:rPr>
              <a:t>写出结果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F4B01-8272-4F42-A01D-3211225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14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91051-7582-4439-9FED-B3FF6967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672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SaveExpandIdx 生成 combine 所需索引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8E6AFF-454B-43AC-B2C7-64A8A57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38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9E3019-772F-485F-BD38-6CAC868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911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TokenGather 写 expand_x 与 dynamic_scales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64B799-3A72-4411-83D3-041CE7F6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62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8D"/>
          </a:solidFill>
          <a:ln xmlns:a="http://schemas.openxmlformats.org/drawingml/2006/main" w="0">
            <a:solidFill>
              <a:srgbClr val="0F9F8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EF6FF-E62B-4BD1-92AF-40F54346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1495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UpdateMoeRankOutput 写 ep_recv_count / expert_token_nums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87A41D-76BE-47CC-A552-48CE2C9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源码：op_kernel/arch35/moe_distribute_dispatch_arch35.h</a:t>
            </a:r>
          </a:p>
        </p:txBody>
      </p:sp>
    </p:spTree>
    <p:extLst>
      <p:ext uri="{BB962C8B-B14F-4D97-AF65-F5344CB8AC3E}">
        <p14:creationId xmlns:p14="http://schemas.microsoft.com/office/powerpoint/2010/main" val="1445970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0423A7-A348-4293-A6EB-B47CA121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926ED-9C02-4670-9223-457FF80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MTE / FullMesh：复用通用 window/status 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963BF-FB44-4A3D-810A-1D4C520E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ECCAB-B079-4339-B646-BB8E2EC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FFE23-58EA-454F-A430-17A59BF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solidFill>
              <a:srgbClr val="FFF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7700"/>
                </a:solidFill>
              </a:defRPr>
            </a:pPr>
            <a:r>
              <a:rPr sz="1050" b="1">
                <a:solidFill>
                  <a:srgbClr val="C77700"/>
                </a:solidFill>
              </a:rPr>
              <a:t>普通 MTE 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F483D-9F07-48D9-BFB6-B9D4E676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600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AlltoAllDispatch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D8CCD-A4DC-4A8F-B97C-4954353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1600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SetStatus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57450" y="23050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ABDBA-BECC-41A0-AA86-550676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600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WaitDispatch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05325" y="23050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60B9A-325E-4511-87F5-D356A3C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00250"/>
            <a:ext cx="1600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LocalWindowCopy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53200" y="23050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CA016-17D2-41E4-BB26-33843FC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600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SetExpertTokenNumsA5 / AllGather</a:t>
            </a:r>
          </a:p>
        </p:txBody>
      </p: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01075" y="23050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700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7E62F-2A2A-4FBD-92BB-82A383A7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FullMesh 模板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780F6-0442-4F59-A750-169E69D2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前半 AIV</a:t>
            </a:r>
          </a:p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AllToAllDispatch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FBF55-A888-4999-A0E4-1DD63950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后半 AIV</a:t>
            </a:r>
          </a:p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CalCumSum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74B96-4261-4F50-B30D-2B70A32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统一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LocalWindowCopy</a:t>
            </a:r>
          </a:p>
        </p:txBody>
      </p:sp>
      <p:cxnSp>
        <p:nvCxnSpPr>
          <p:cNvPr id="4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24250" y="4076700"/>
            <a:ext cx="4762500" cy="571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43750" y="46482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2B708-43AB-498F-96F4-50CF5BC1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62050"/>
            <a:ext cx="26860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9525">
            <a:solidFill>
              <a:srgbClr val="F4B7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48E95-D311-4711-870D-2674D68B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954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14A44"/>
                </a:solidFill>
              </a:defRPr>
            </a:pPr>
            <a:r>
              <a:rPr sz="1050" b="1">
                <a:solidFill>
                  <a:srgbClr val="D14A44"/>
                </a:solidFill>
              </a:rPr>
              <a:t>注意：A5 非 ccu 在 API 层优先 inner V3，新旧入口要一起看。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90C61-9491-427E-BC0F-E05CB849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源码：op_kernel/moe_distribute_dispatch_v2.h；op_kernel/moe_distribute_dispatch_v2_full_mesh.h</a:t>
            </a:r>
          </a:p>
        </p:txBody>
      </p:sp>
    </p:spTree>
    <p:extLst>
      <p:ext uri="{BB962C8B-B14F-4D97-AF65-F5344CB8AC3E}">
        <p14:creationId xmlns:p14="http://schemas.microsoft.com/office/powerpoint/2010/main" val="680356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CB640-352F-45C3-8D42-41218B5A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17086"/>
                </a:solidFill>
              </a:defRPr>
            </a:pPr>
            <a:r>
              <a:rPr sz="900" b="1">
                <a:solidFill>
                  <a:srgbClr val="617086"/>
                </a:solidFill>
              </a:rPr>
              <a:t>moe_distribute_dispatch_v2 / A5 下发流程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585CF-411B-433B-A02A-10651B0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排查建议：先对齐 comm_alg，再沿链路追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69646-55AA-43DF-9344-5F570FF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91CEF-285B-436B-9A8C-A8D8D261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436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静态源码分析，未做真实 A5 环境运行验证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6EDC2-DA90-4485-A414-38DCA2A5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02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9525">
            <a:solidFill>
              <a:srgbClr val="F4B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785BF-A1EE-4855-929D-CF74171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4A44"/>
                </a:solidFill>
              </a:defRPr>
            </a:pPr>
            <a:r>
              <a:rPr sz="1350" b="1">
                <a:solidFill>
                  <a:srgbClr val="D14A44"/>
                </a:solidFill>
              </a:rPr>
              <a:t>TP 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AFBBA-3BA9-4DB0-9423-5C021C0B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A5 CCU 当前 tp_world_size 强制为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2016D-6876-4D29-B97F-6C6A2D1B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02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4E35F-BB10-4191-AF32-A4EE0BE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comm_alg 语义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9C041-13E2-41C7-AF06-8C5088F8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API / GenTask / Tiling 必须一致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3D049-32A0-4813-9751-1D48FA4F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02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B83D1-C614-43C4-9435-FAA489A7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窗口大小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FEBFB-2549-47DA-A4DD-DAA2913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global_bs、h、localExpertNum、epWorldSize 共同决定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BF726-F00D-4228-AD39-AEEE5EF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2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CA5F7-7A69-4D49-9780-29A844A5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执行入口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04DD-B339-4D00-A99F-BD49DC89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ccu 走 inner V2，非 ccu A5 优先 inner V3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5BDA6-F27C-4DB6-8764-4B87D212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302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9525">
            <a:solidFill>
              <a:srgbClr val="F4B7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F465-9A73-4CA3-954C-5F416991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4A44"/>
                </a:solidFill>
              </a:defRPr>
            </a:pPr>
            <a:r>
              <a:rPr sz="1350" b="1">
                <a:solidFill>
                  <a:srgbClr val="D14A44"/>
                </a:solidFill>
              </a:rPr>
              <a:t>验证边界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5D49F-E895-4639-9740-CC3B366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本 PPT 仍是源码静态分析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B4138-6B98-4262-87E5-49FBA4D3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推荐追踪顺序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C7EA-D1E6-49B9-B2F4-5C00AE0E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op_api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AC131-8861-4809-ABC8-68FDDD2C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op_graph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6D372-2EF5-4253-B9D4-83A54CA1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CBD55-6D40-46D0-A8FB-7F0B596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op_host/def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98F71-3288-4F53-B769-D011F608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022D0-B3C1-48EF-A984-5368DF7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9CD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arch35 tiling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B5413-AC38-4715-B064-74042C0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8806B-337F-4802-94E1-9FE5CF3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tiling_key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36EC7-205B-4518-8D7D-1038B834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205B2-AB17-459B-8D65-4D90BB9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kernel entry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49D38-3144-469C-A48B-D91BDD9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957C8-F03F-4DFF-A53D-34FAE2FA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arch35 device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F47EA-B90D-4CA1-9350-277E0CF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116962-50FC-42F5-BEB8-4AA93F02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629150"/>
            <a:ext cx="11239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V2/fullmesh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C0A04-1CB7-4B0B-9459-D9CCE61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92DC9B-8512-46B0-9118-0094EFF2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先确认 comm_alg 与平台，再看 Host Tiling 是否产出预期 tiling key，最后进对应 kernel Process。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6AD988-7963-4F14-B93A-797ABD8D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17086"/>
                </a:solidFill>
              </a:defRPr>
            </a:pPr>
            <a:r>
              <a:rPr sz="750" b="0">
                <a:solidFill>
                  <a:srgbClr val="617086"/>
                </a:solidFill>
              </a:rPr>
              <a:t>来源：分析文档第 13、14 节</a:t>
            </a:r>
          </a:p>
        </p:txBody>
      </p:sp>
    </p:spTree>
    <p:extLst>
      <p:ext uri="{BB962C8B-B14F-4D97-AF65-F5344CB8AC3E}">
        <p14:creationId xmlns:p14="http://schemas.microsoft.com/office/powerpoint/2010/main" val="415278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2026-06-17T06:33:30.5660000Z</dcterms:created>
  <dcterms:modified xsi:type="dcterms:W3CDTF">2026-06-17T06:33:30.5660000Z</dcterms:modified>
</coreProperties>
</file>