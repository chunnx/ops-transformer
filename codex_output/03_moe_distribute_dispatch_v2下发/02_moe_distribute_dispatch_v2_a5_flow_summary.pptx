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dc9878a2d24674" /><Relationship Type="http://schemas.openxmlformats.org/officeDocument/2006/relationships/extended-properties" Target="/docProps/app.xml" Id="R60f8ce664d6848fb" /><Relationship Type="http://schemas.openxmlformats.org/officeDocument/2006/relationships/officeDocument" Target="/ppt/presentation.xml" Id="Ra02c8222fa764f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b252573d9142cb"/>
  </p:sldMasterIdLst>
  <p:notesMasterIdLst>
    <p:notesMasterId xmlns:r="http://schemas.openxmlformats.org/officeDocument/2006/relationships" r:id="R6ad94eba34324571"/>
  </p:notesMasterIdLst>
  <p:sldIdLst>
    <p:sldId xmlns:r="http://schemas.openxmlformats.org/officeDocument/2006/relationships" id="256" r:id="R70ee3c8d21f849e8"/>
    <p:sldId xmlns:r="http://schemas.openxmlformats.org/officeDocument/2006/relationships" id="257" r:id="R90921a026be04dba"/>
    <p:sldId xmlns:r="http://schemas.openxmlformats.org/officeDocument/2006/relationships" id="258" r:id="Rfc2cc5d683c5492e"/>
    <p:sldId xmlns:r="http://schemas.openxmlformats.org/officeDocument/2006/relationships" id="259" r:id="R9cdd18279d294041"/>
    <p:sldId xmlns:r="http://schemas.openxmlformats.org/officeDocument/2006/relationships" id="260" r:id="R5b88f47b954e431f"/>
    <p:sldId xmlns:r="http://schemas.openxmlformats.org/officeDocument/2006/relationships" id="261" r:id="Rda02689b7963489c"/>
    <p:sldId xmlns:r="http://schemas.openxmlformats.org/officeDocument/2006/relationships" id="262" r:id="Rd961b456715b40ee"/>
    <p:sldId xmlns:r="http://schemas.openxmlformats.org/officeDocument/2006/relationships" id="263" r:id="R98bbf2044acb419a"/>
    <p:sldId xmlns:r="http://schemas.openxmlformats.org/officeDocument/2006/relationships" id="264" r:id="Rc6dc18cf8323478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5c54f55d504e92" /><Relationship Type="http://schemas.openxmlformats.org/officeDocument/2006/relationships/slideMaster" Target="/ppt/slideMasters/slideMaster1.xml" Id="R6ab252573d9142cb" /><Relationship Type="http://schemas.openxmlformats.org/officeDocument/2006/relationships/notesMaster" Target="/ppt/notesMasters/notesMaster1.xml" Id="R6ad94eba34324571" /><Relationship Type="http://schemas.openxmlformats.org/officeDocument/2006/relationships/presProps" Target="/ppt/presProps.xml" Id="R376f581307194a63" /><Relationship Type="http://schemas.openxmlformats.org/officeDocument/2006/relationships/tableStyles" Target="/ppt/tableStyles.xml" Id="R4440287c4a754b7f" /><Relationship Type="http://schemas.openxmlformats.org/officeDocument/2006/relationships/slide" Target="/ppt/slides/slide1.xml" Id="R70ee3c8d21f849e8" /><Relationship Type="http://schemas.openxmlformats.org/officeDocument/2006/relationships/slide" Target="/ppt/slides/slide2.xml" Id="R90921a026be04dba" /><Relationship Type="http://schemas.openxmlformats.org/officeDocument/2006/relationships/slide" Target="/ppt/slides/slide3.xml" Id="Rfc2cc5d683c5492e" /><Relationship Type="http://schemas.openxmlformats.org/officeDocument/2006/relationships/slide" Target="/ppt/slides/slide4.xml" Id="R9cdd18279d294041" /><Relationship Type="http://schemas.openxmlformats.org/officeDocument/2006/relationships/slide" Target="/ppt/slides/slide5.xml" Id="R5b88f47b954e431f" /><Relationship Type="http://schemas.openxmlformats.org/officeDocument/2006/relationships/slide" Target="/ppt/slides/slide6.xml" Id="Rda02689b7963489c" /><Relationship Type="http://schemas.openxmlformats.org/officeDocument/2006/relationships/slide" Target="/ppt/slides/slide7.xml" Id="Rd961b456715b40ee" /><Relationship Type="http://schemas.openxmlformats.org/officeDocument/2006/relationships/slide" Target="/ppt/slides/slide8.xml" Id="R98bbf2044acb419a" /><Relationship Type="http://schemas.openxmlformats.org/officeDocument/2006/relationships/slide" Target="/ppt/slides/slide9.xml" Id="Rc6dc18cf832347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026779128948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cd8a42d0214457" /><Relationship Type="http://schemas.openxmlformats.org/officeDocument/2006/relationships/notesMaster" Target="/ppt/notesMasters/notesMaster1.xml" Id="Rbaf55f4c8b9a44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fa75c4e2b24ca2" /><Relationship Type="http://schemas.openxmlformats.org/officeDocument/2006/relationships/notesMaster" Target="/ppt/notesMasters/notesMaster1.xml" Id="Raf1d3993089f4d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bc4584c08942e4" /><Relationship Type="http://schemas.openxmlformats.org/officeDocument/2006/relationships/notesMaster" Target="/ppt/notesMasters/notesMaster1.xml" Id="R0f12285cd2424d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41eef4e1b145db" /><Relationship Type="http://schemas.openxmlformats.org/officeDocument/2006/relationships/notesMaster" Target="/ppt/notesMasters/notesMaster1.xml" Id="R603e7e065b344e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2e97ce84be42de" /><Relationship Type="http://schemas.openxmlformats.org/officeDocument/2006/relationships/notesMaster" Target="/ppt/notesMasters/notesMaster1.xml" Id="Radf8c38aa4084b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b9e19594384de3" /><Relationship Type="http://schemas.openxmlformats.org/officeDocument/2006/relationships/notesMaster" Target="/ppt/notesMasters/notesMaster1.xml" Id="R8f02abed56de44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8db81229cc4572" /><Relationship Type="http://schemas.openxmlformats.org/officeDocument/2006/relationships/notesMaster" Target="/ppt/notesMasters/notesMaster1.xml" Id="Rac78fedf754f4c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4142266ed54cd3" /><Relationship Type="http://schemas.openxmlformats.org/officeDocument/2006/relationships/notesMaster" Target="/ppt/notesMasters/notesMaster1.xml" Id="R50a49c4d2eb346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55e187ddaf49ae" /><Relationship Type="http://schemas.openxmlformats.org/officeDocument/2006/relationships/notesMaster" Target="/ppt/notesMasters/notesMaster1.xml" Id="R6d2989a78ac64f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24be4839243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bab78e12924ff5" /><Relationship Type="http://schemas.openxmlformats.org/officeDocument/2006/relationships/slideLayout" Target="/ppt/slideLayouts/slideLayout1.xml" Id="R649d78f5191b40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9d78f5191b40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f7448a60c4405" /><Relationship Type="http://schemas.openxmlformats.org/officeDocument/2006/relationships/notesSlide" Target="/ppt/notesSlides/notesSlide1.xml" Id="Rc94702ad147c4e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07e78b8cc41db" /><Relationship Type="http://schemas.openxmlformats.org/officeDocument/2006/relationships/notesSlide" Target="/ppt/notesSlides/notesSlide2.xml" Id="Rbdaa3aab03d340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ecf236a6d4fdb" /><Relationship Type="http://schemas.openxmlformats.org/officeDocument/2006/relationships/notesSlide" Target="/ppt/notesSlides/notesSlide3.xml" Id="R73506c184fd44e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0e2a819c44374" /><Relationship Type="http://schemas.openxmlformats.org/officeDocument/2006/relationships/notesSlide" Target="/ppt/notesSlides/notesSlide4.xml" Id="R24d5bfb4cb394d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6c84df838464f" /><Relationship Type="http://schemas.openxmlformats.org/officeDocument/2006/relationships/notesSlide" Target="/ppt/notesSlides/notesSlide5.xml" Id="Re57882f4372b4d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d5c28e6394d04" /><Relationship Type="http://schemas.openxmlformats.org/officeDocument/2006/relationships/notesSlide" Target="/ppt/notesSlides/notesSlide6.xml" Id="Reff9265d9e7e40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fde2df75e4556" /><Relationship Type="http://schemas.openxmlformats.org/officeDocument/2006/relationships/notesSlide" Target="/ppt/notesSlides/notesSlide7.xml" Id="Rd8d96b45655449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1bca2d35a49df" /><Relationship Type="http://schemas.openxmlformats.org/officeDocument/2006/relationships/notesSlide" Target="/ppt/notesSlides/notesSlide8.xml" Id="R1a92d079e5c349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0053517694fd3" /><Relationship Type="http://schemas.openxmlformats.org/officeDocument/2006/relationships/notesSlide" Target="/ppt/notesSlides/notesSlide9.xml" Id="Rb9b423ae57454c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04A83C-2618-4F9C-9339-755C2591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85800"/>
            <a:ext cx="800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EAD79-6E09-4EDF-94F8-FBFD638F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685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moe_distribute_dispatch_v2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3E95E-2AB9-421C-BE06-884C7200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43125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A5 芯片下发流程专项刷新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DAACC1-EAF8-44D0-B7B4-14ED78D2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05125"/>
            <a:ext cx="685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827"/>
                </a:solidFill>
              </a:defRPr>
            </a:pPr>
            <a:r>
              <a:rPr sz="1800">
                <a:solidFill>
                  <a:srgbClr val="111827"/>
                </a:solidFill>
              </a:rPr>
              <a:t>结论：A5 下发不看单一入口，必须同时对齐 comm_alg、GenerateTask、ACLNN inner、Host Tiling 和 tiling key。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70A71-2E61-45F4-9656-FD02DF2A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28750"/>
            <a:ext cx="3048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6B0041-7B20-439B-98C2-4064DB96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0020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CCU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69522-5C5B-4BBC-BCDE-AA4A87AC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628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ccu task + AICore fusion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inner V2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MoeDistributeDispatchA5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4866D-85B5-40EA-9A63-0F873488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3048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27224-6C6F-4F34-A6CD-05461412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0995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MTE / FullMesh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09DBB-8EDB-49BC-92F3-D312F68B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90950"/>
            <a:ext cx="2628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HCOM hidden inputs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inner V3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V2 或 FullMesh 模板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0E6AC-8930-4BEC-B518-6FB7C80C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源码：03_moe_distribute_dispatch_v2_a5_dispatch_flow_deep_analysis.md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F4A79-C97B-4099-ACAB-D6AEBB07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9625222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69FE56-A74B-403E-AB62-72B9E913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2BD23F-C0D7-489C-99F0-61A1C376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A5 分支判定：comm_alg 贯穿所有阶段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EE56E-90B6-4D9E-8F64-0CB793C6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039FC-61A5-4E6B-B266-1D625D61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A589D-43A7-430A-BC95-27CDF1DF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EEDFD-FCA1-45AE-86DD-AC5709B6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2400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B6C3C-DEAD-45A8-921A-81ABA2C0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9390D-A1BC-4583-8C5D-62F2BF42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2400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B2A40-4291-4221-94A4-BA7B9699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ACLNN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EF3C8-3AD0-4F5D-8E0F-C3B87045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2400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4F553F-9714-48EE-92EB-C85055ED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Host Tiling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C3762-4E57-405D-8046-398AE996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2400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BC1B6-DDD2-4257-B2AA-F90E6EFF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Kernel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3B0A9-02AA-4945-AA7A-0364364F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524000"/>
            <a:ext cx="12192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222DF-797A-4AFF-9562-14602725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61925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结论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3047F-003F-4C50-9CF0-37E648E0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0F3DF-1DDC-400F-B2EE-2D25CD67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764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ccu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6C337-FEBB-4391-8CCE-A488B59A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336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518BA-4979-4DB7-BA80-2165DB59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764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ccu_stream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02B41-E06D-42C4-86DE-2ED14572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336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5751E-BC12-4584-9C1C-DFEEE09E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764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inner V2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D6D03A-614B-4A4E-85C8-53F12465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336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6647C-D5B3-4BC9-B13A-791E73D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OP_VERSION_2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EE4D5F-BD23-4917-BA53-840DD5BF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264E6C-5A93-4305-8DC0-C0BB076C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764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A5 CCU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86999A-54BC-44D8-B706-DD6FCF91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33600"/>
            <a:ext cx="12192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DE5D55-A704-4972-9B10-2EEC4B38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2764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显式 CCU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6D2D56-2326-4ADA-870B-59C9C06C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84FB5-C30A-40AC-AD9D-966DBE05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mte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5DF355-8C8B-4737-9680-F1044FCD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146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307DDE-B72B-4850-B07C-492B190D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575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kfc_stream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7AE8E9-6485-4303-8A2B-446D0E95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146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0A2961-14AE-45B8-AF1C-9C69989E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575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inner V3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18EC75-4C2D-4B7B-B510-9B0D0C67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146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DA93BF-DA06-49F8-A377-BB4BE8E3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575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MTE key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03687F-C2AF-48BD-B302-12D4FA52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146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012547-0EFA-41F1-B68E-0861A5D9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V2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0F8813-8242-4038-A3C5-32A166F4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14650"/>
            <a:ext cx="12192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4F5CE2-F8D4-41AB-A68A-977EDE27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575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普通 MTE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AD0B26-BFB7-4F49-8B94-0FFE6028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9A421B-9861-4667-82CE-1CCC8079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85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fullmesh_v2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86AA2-0CD7-4620-B395-8AC260A0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957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5E1D45-1BA9-440F-A386-DC1E557B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385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kfc_stream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293A41-F769-40E3-B0E6-B65DEE90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957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71F4FE-B97C-4FAC-AF6F-764802E1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inner V3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3F7568-1B25-468A-8AF9-1DF0A186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957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99A808-67A0-4C9D-AB27-DF9C5691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FullMesh key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62CF3F-F9B7-4707-A279-98D0B0D6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9570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94F69D-287C-4880-9925-4FFFEDFB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385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FullMesh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C33A8C-5973-4F93-B810-9EFBFCE8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695700"/>
            <a:ext cx="12192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A56BAA3-31EA-4490-BF3F-D3F92C20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8385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全互联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7CB9C3-5476-400C-88AA-15AF30F8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E1E9B01-3455-47D7-B569-BA15CFAB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empty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239319-49A3-4020-B24B-A8078893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767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BC9C418-C95C-4D74-B352-067F4930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619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A9845F-4C28-4DF3-86F0-469D956F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767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5B311C-B02D-4CA2-8C6E-7F4E9F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19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inner V3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413B2E-0DDD-41EE-8C3E-B40A88F5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767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670AF2-522C-4464-A7B8-5F1BD1D4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9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看 tiling key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9EA4A2A-4315-4CF9-9A9B-41C4DC72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76750"/>
            <a:ext cx="1524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AA38A9-C766-4F51-B6C7-A8D57C96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19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MTE/FM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3D72C7-331A-4F6C-B70B-607B0DA7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476750"/>
            <a:ext cx="12192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3F79171-8A1A-4C21-889A-074165FE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6196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需核对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27FA98E-9CED-4BF2-87C9-E3C811D7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626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A5 kernel 不再读取 comm_alg 字符串，最终只按 Host Tiling 产出的 tiling key 派发。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F49948-591E-4293-B115-3537339D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源码：op_graph/moe_distribute_dispatch_v2_gen_task.cpp；op_host/op_tiling/arch35/...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12395F8-AD90-4FC5-B2F6-E64C001C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14349164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0DC452-A2FB-43A4-B26C-11ACE1C2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5A718-186D-40DA-BA35-4E8DFD76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Graph 下发：A5 CCU 是 fusion task，MTE 只改 AICore args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290F75-5D8C-4AF6-BAB1-838ABADD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DB032-BC3F-4B1D-9EEF-0AD85366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43200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3E629-A425-4D58-ABA4-DF198D4A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43200"/>
            <a:ext cx="1809750" cy="-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594FC-29BF-4554-9974-075E5EF2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43200"/>
            <a:ext cx="180975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76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DCF35-B750-42A8-8ED5-7D0357FD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381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2D4FA-1870-4B9D-882A-C426BE7F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288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CalcOpParam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E3567-561D-4373-8B79-43E52A47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1962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读取 NPUARCH_A5 和 comm_alg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ccu -&gt; ccu_stream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其他 -&gt; kfc_stream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D2D73-5CEE-454E-BAB2-D8F4522E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2381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8777E-A3FD-4420-9CDA-48F86826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2288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GenerateTask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AC4FE-4C4A-476A-96E4-A06969CE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09850"/>
            <a:ext cx="1962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再次读取 comm_alg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决定 task 构造方式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0F87E3-53BB-41B9-BE65-0B21F6E0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371600"/>
            <a:ext cx="30480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F02DB-C198-4A9D-B680-86AF8B60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54305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CCU 路径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610129-2D07-4749-A26D-1B98AFE9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9240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CreateCcuTask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+ 原 AICore task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=&gt; CreateFusionTask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01CA3-71F6-4D40-9768-F39123E2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181350"/>
            <a:ext cx="3048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F57EE-FA52-4C47-97E7-3CE07017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35280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MTE / FullMesh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4B920-6CEA-41AC-A8B5-B74B7A45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73380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Mc2MoeGenTaskCallbackV2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插入 HCOM hidden inputs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通常不插 AICPU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F0A61-B49F-47E3-9C49-851F81AC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关键判断：CCU 下发改变 task 结构；MTE/fullmesh 主要改变 AICore task 参数描述。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7357AD-88C1-4B24-8045-7DF072F0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源码：mc2/common/op_graph/mc2_gen_task_ops_utils_arch35.cpp；mc2_moe_gen_task_ops_utils.cpp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609C2-76D7-47FB-84D7-8FA7389B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21115425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94D535-4B32-4991-8D4C-0748D099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A5EC1-6287-4EEA-B69C-6E9B3AA0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ACLNN：A5 non-ccu 进入 inner V3，ccu 保留 inner V2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5F811-DD49-4046-B2A1-0EF85211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37F3A-180C-42BB-ACFF-78026F0A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A6384-8C27-4C29-A753-5CDE4319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WorkspaceSize 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686CE-8C49-4037-A6E0-4FCE9397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438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is950 = DAV_3510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comm_alg 决定 inner 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58CFA-631B-469F-8CAE-1DACF752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81250"/>
            <a:ext cx="1390650" cy="-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FB4E7-D1B2-4F77-924E-E47CC6CB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81250"/>
            <a:ext cx="1390650" cy="1409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76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68798-811D-4D7B-A1F8-A9E2A5D0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71600"/>
            <a:ext cx="3429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D4996E-77E0-4B1D-9CA7-D11F7929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comm_alg == ccu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27079-B37A-4F9A-90AE-8C00CDCC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24050"/>
            <a:ext cx="3009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aclnnInnerMoeDistributeDispatchV2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server type = CCU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userHandle = CCU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3F62F-B5E0-4529-ACEB-826DC73A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3429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AA9EFF-99E1-4F2F-ACBC-35F73CD0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comm_alg != ccu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48F48-6D86-497A-9B36-28CFC51A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24300"/>
            <a:ext cx="3009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GetMc2ContextTensor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aclnnInnerMoeDistributeDispatchV3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server type = MTE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E1E63F-6367-423A-A9BB-F5C1D9D0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476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EAF34-CF46-4F8F-8347-DE001944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955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Execute 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E6591-89BB-408B-ABAF-91931366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76550"/>
            <a:ext cx="2057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读取 executor userHandle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AIV -&gt; inner V3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否则 -&gt; inner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AA0AE-EABB-4A07-BB42-E26138E6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245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D64545"/>
                </a:solidFill>
              </a:defRPr>
            </a:pPr>
            <a:r>
              <a:rPr sz="1575" b="1">
                <a:solidFill>
                  <a:srgbClr val="D64545"/>
                </a:solidFill>
              </a:rPr>
              <a:t>A5 CCU 注释明确为“暂时不支持新方案”，所以不能按 non-ccu 的 inner V3 逻辑分析。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B493C-1C10-4115-903E-C2AF67F4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源码：op_api/moe_distribute_dispatch_v2_base.cpp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B2F25-DEC0-4630-9AF5-B49A3B27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3932972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521EB3-BAB0-418F-9E71-7F58C40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6B79FB-5583-44BD-9C79-51041666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A5 Host Tiling：ccu 走 arch35 专用，non-ccu 复用 public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23E70-8BEE-4A62-B57C-2944A5F8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F3897-0957-4B49-AA4C-D0E45795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3143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C6596-F25D-49D4-8750-D462A8A5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ADAF7-8E54-4A10-948C-D723C9C8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724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TilingFuncA5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读取 comm_alg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9E56A-13C6-4BDD-8610-DCF00153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43150"/>
            <a:ext cx="1190625" cy="-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D5F4E-6A63-4A38-ACD8-4D88DB1E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43150"/>
            <a:ext cx="1190625" cy="1504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76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F7B-8916-4715-9BCF-D61C8040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71600"/>
            <a:ext cx="33337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93B29-DAB5-414A-976B-933B724D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5430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CCU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1651B-1962-4BCA-B93E-449FA522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924050"/>
            <a:ext cx="29146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MoeDistributeDispatchTilingImpl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OP_VERSION_2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SetCommEngine(A5_CCU_ENGINE)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A92C6-ED39-4C7D-8B65-F1FF8C9F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3718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6A9BDD-5998-445D-B32B-74EEE573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5433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MTE / FullMesh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48222-7814-4DFC-A722-19261097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924300"/>
            <a:ext cx="29146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Public tiling path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A5 override CalTilingKey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ARCH_TAG=A5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F7058-5893-412A-BB4C-D48A2530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8125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37087-671F-401C-A643-3A9F4A3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5270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0BE34-DCA8-47A9-917D-F87BB8FA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33700"/>
            <a:ext cx="1676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tilingData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workspace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blockDim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tilingKey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05C1D-7B9F-495D-97E8-63F40CBE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816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重点：函数名里出现 A3 不代表非 A5；A5 non-ccu 复用 public tiling，但最终写入 A5 tiling key。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C0C39-D92E-456C-98D1-4AC23431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源码：op_host/op_tiling/arch35/moe_distribute_dispatch_v2_tiling_arch35.cpp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86A53-2661-4447-8B76-42809CD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1467706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11C81D-729F-42D5-926E-5B5BB6A9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1BC80-3F63-4BD9-9A50-160024DF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TilingKey：A5 kernel 只按 key 派发，不再看 comm_alg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EDE27-7C72-4F00-9CCA-F4CFCDC0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40146-DE7A-4D9F-AC3B-573DCD5A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247D4-61FA-4159-B6B1-15125EE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TP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6FBA4-9444-49ED-8A54-15692F44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A5 当前主要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2CA8B-541B-49A9-A550-A921910A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E0F73-848E-4E17-8262-5CC08C47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Quant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45B89-E87D-4A33-828A-52A4B1AB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no / static /</a:t>
            </a:r>
          </a:p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pertoken / mx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33C9B-A209-48E6-9E89-DF849B20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9D6A9-F026-411D-A533-C3BC28E8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Scale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38A33-3CBE-43AF-8215-A411C525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0 /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5254D1-7E22-48A3-B1E1-D2F7757E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4A8ACD-1DC9-48CB-87DE-70151EF4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FullMesh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7D16C-EEED-4498-8960-A97D6752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no / fullmesh /</a:t>
            </a:r>
          </a:p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hierarchy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B3254-7EEA-4B50-BF24-1E7C2324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BB4EC7-24E8-4D65-991D-F2E25CA5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Comm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8D360-5615-4E96-B46E-0CE74510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MTE / CCU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EC738E-3EB8-4A1A-A3A3-F8DFC285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428750"/>
            <a:ext cx="1524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FC8C6B-BAD2-4854-9CDF-3367D339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60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66DA91-EC37-4F08-A3C5-CDC726CF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4310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5E6B7E"/>
                </a:solidFill>
              </a:defRPr>
            </a:pPr>
            <a:r>
              <a:rPr sz="1050">
                <a:solidFill>
                  <a:srgbClr val="5E6B7E"/>
                </a:solidFill>
              </a:rPr>
              <a:t>A5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C6086F-082B-4B28-A3E2-E7F7F65B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14625"/>
            <a:ext cx="956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CB7F2-AA6B-4AEC-BC74-AFACC102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8575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8794B0-AAA3-4B0B-B335-3DABE092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COMM=CCU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D225E6-3DA1-4705-ACB2-30E4853B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81450"/>
            <a:ext cx="2438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FullMesh 固定 no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tp=false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-&gt; MoeDistributeDispatchA5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33FFC1-7560-49D0-9449-41654A7A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29000"/>
            <a:ext cx="28575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62200C-668A-4F81-87F1-8BDA93D6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0045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COMM=MTE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21501B-1856-40F8-94E0-7154A342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81450"/>
            <a:ext cx="2438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FullMesh=no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-&gt; MoeDistributeDispatchV2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0216B3-720C-418B-9B01-1E222EB3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29000"/>
            <a:ext cx="28575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3F2255-A6AC-40B2-A37F-F1FD71B6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0045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MTE+FullMesh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15A05-ADEB-483D-A2F9-B7197C9A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981450"/>
            <a:ext cx="2438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FullMesh=enable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-&gt; FullMesh 模板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39B6E7-4B1D-44D2-9DBB-F9836A61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源码：op_kernel/moe_distribute_dispatch_v2_tiling_key.h；op_kernel/moe_distribute_dispatch_v2.cpp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790CBA-0B86-482D-8A3B-0ECF36F8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17183221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891BDA-AE69-43E1-9A54-B3CBF67D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8C26E-1485-43BB-9A99-79EA6EF0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A5 CCU Device：显式 Scatter / Communication / Gather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B2967-9AC4-409E-8E0B-F9D9542F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406BB-877C-4DD6-9982-2536670D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752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C8BA5-FC71-4356-8943-08D5BC85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E"/>
          </a:solidFill>
          <a:ln xmlns:a="http://schemas.openxmlformats.org/drawingml/2006/main" w="0">
            <a:solidFill>
              <a:srgbClr val="0F9F8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F4EA7-7555-48B7-8B88-28DE7828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93EC92-14D1-48C1-A767-F76692F0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TokenMask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BD1F5-2EA9-4E86-A9B3-E22CBAEA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可选</a:t>
            </a:r>
          </a:p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active mask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5B789-6C70-4A80-BAD0-6A10B40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241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CD33-CE2A-434B-B1B7-A5AC8BBA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19250"/>
            <a:ext cx="1752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8E964-5D6B-4EAD-ADFE-121356A4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E"/>
          </a:solidFill>
          <a:ln xmlns:a="http://schemas.openxmlformats.org/drawingml/2006/main" w="0">
            <a:solidFill>
              <a:srgbClr val="0F9F8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B18D6-7D69-4A96-9430-5F65C6A2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859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D54CC-90FA-4561-A444-AC5F1B7A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66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Scatter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2FC5B-267B-4F7C-AA4D-A9781C3E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0985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TokenScatter</a:t>
            </a:r>
          </a:p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shared/moe expert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D13764-9C4B-4CF0-AEC5-5196D1EC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95CA6-BEE0-4B85-90AF-0AD4CC29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619250"/>
            <a:ext cx="1752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BA13BD-2EF2-4308-B9C8-F49F2CF2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09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E"/>
          </a:solidFill>
          <a:ln xmlns:a="http://schemas.openxmlformats.org/drawingml/2006/main" w="0">
            <a:solidFill>
              <a:srgbClr val="0F9F8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6CE38-1EA7-4073-845B-7F6E6B3A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34AD68-9FBB-4238-A6BD-2F0A0201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266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Comm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3773BF-695D-4046-B7F4-A17BCD30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0985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AlltoAllvWrite</a:t>
            </a:r>
          </a:p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Wait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D37F61-9E33-4849-8077-4E6854E1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241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0538CC-2C71-4310-95DE-94176B46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1752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5FBCC3-08BD-47F1-9C18-BDAE36A0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E"/>
          </a:solidFill>
          <a:ln xmlns:a="http://schemas.openxmlformats.org/drawingml/2006/main" w="0">
            <a:solidFill>
              <a:srgbClr val="0F9F8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D1742-208A-4A19-A100-C4EDE9EC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90CBF9-8BB4-4C76-AED9-F76030F0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Gather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4A436-67C3-4557-9309-85DCAF93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0985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TokenGather</a:t>
            </a:r>
          </a:p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写 expand_x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3F26EB-BD38-4C0E-BE49-7E485333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24100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F9F8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F140AA-7D39-46A3-9D3B-27884706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19250"/>
            <a:ext cx="17526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118422-0551-4C7C-9ABF-1139213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8E"/>
          </a:solidFill>
          <a:ln xmlns:a="http://schemas.openxmlformats.org/drawingml/2006/main" w="0">
            <a:solidFill>
              <a:srgbClr val="0F9F8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EC707F-992B-4779-A675-5BDEA768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859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329FF3-31B3-423C-ACB3-B9B3F9AB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66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Finalize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B60716-479A-4335-A66D-35CEFE41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09850"/>
            <a:ext cx="140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aiv0</a:t>
            </a:r>
          </a:p>
          <a:p xmlns:a="http://schemas.openxmlformats.org/drawingml/2006/main">
            <a:pPr algn="ctr">
              <a:defRPr sz="1125">
                <a:solidFill>
                  <a:srgbClr val="5E6B7E"/>
                </a:solidFill>
              </a:defRPr>
            </a:pPr>
            <a:r>
              <a:rPr sz="1125">
                <a:solidFill>
                  <a:srgbClr val="5E6B7E"/>
                </a:solidFill>
              </a:rPr>
              <a:t>hccl_.Finalize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5E1DB4-3126-41D9-882F-44CEFDD5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48577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F1B2D"/>
          </a:solidFill>
          <a:ln xmlns:a="http://schemas.openxmlformats.org/drawingml/2006/main" w="9525">
            <a:solidFill>
              <a:srgbClr val="0F1B2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0C91BA-2163-4F98-8443-A5F63901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48125"/>
            <a:ext cx="4286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if ASCEND_IS_AIV {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  if (isTokenMaskFlag_) CalcTokenActiveMask();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  TokenScatter();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  Communication();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  TokenGather();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  if (aivId_ == 0) hccl_.Finalize();</a:t>
            </a:r>
          </a:p>
          <a:p xmlns:a="http://schemas.openxmlformats.org/drawingml/2006/main">
            <a:pPr>
              <a:defRPr sz="1200">
                <a:solidFill>
                  <a:srgbClr val="EAF2FF"/>
                </a:solidFill>
              </a:defRPr>
            </a:pPr>
            <a:r>
              <a:rPr sz="1200">
                <a:solidFill>
                  <a:srgbClr val="EAF2FF"/>
                </a:solidFill>
              </a:rPr>
              <a:t>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21C5BC-3331-4AE3-9690-8441C649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39052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8F8F5"/>
          </a:solidFill>
          <a:ln xmlns:a="http://schemas.openxmlformats.org/drawingml/2006/main" w="9525">
            <a:solidFill>
              <a:srgbClr val="0F9F8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C09BFA-23F4-40C9-846D-A6C8F901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81450"/>
            <a:ext cx="348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9F8E"/>
                </a:solidFill>
              </a:defRPr>
            </a:pPr>
            <a:r>
              <a:rPr sz="1800" b="1">
                <a:solidFill>
                  <a:srgbClr val="0F9F8E"/>
                </a:solidFill>
              </a:rPr>
              <a:t>输出关注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802698-4993-4F1C-8024-B7D1C28F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62450"/>
            <a:ext cx="3486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expand_x / dynamic_scales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assist_info_for_combine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expert_token_nums / ep_recv_count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6C106F-DCB6-40BD-9CB1-EB287A9E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源码：op_kernel/arch35/moe_distribute_dispatch_arch35.h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39538A-E1E1-490B-81C0-DAB363D1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15680766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091814-D0FF-4B0C-80EE-B4772A08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6DBC6-F002-4230-B470-1969E1BD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A5 MTE / FullMesh：复用 window/status 机制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9C989-58DF-4A51-8ED7-B9A59BE0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8C6D-C6AF-4217-A377-8736FD38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47331-8324-466F-A8D4-0E160954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MTE 普通模板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118FF-0557-4898-8599-A2E4B123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1619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9D9E2-8770-4828-A663-C73B4572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</a:defRPr>
            </a:pPr>
            <a:r>
              <a:rPr sz="1125" b="1">
                <a:solidFill>
                  <a:srgbClr val="111827"/>
                </a:solidFill>
              </a:rPr>
              <a:t>AlltoAllDispatch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0A9C7-5DD7-4165-BDF1-C3615D27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241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480E2-13DE-497C-AA05-A7331B27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619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6DB25-CDA4-4219-87AF-B8E4F303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</a:defRPr>
            </a:pPr>
            <a:r>
              <a:rPr sz="1125" b="1">
                <a:solidFill>
                  <a:srgbClr val="111827"/>
                </a:solidFill>
              </a:rPr>
              <a:t>SetStatus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A0980-DD31-4385-A490-1929686F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4FEBA-46DC-4897-9CA5-F0E33089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38350"/>
            <a:ext cx="1619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08A30-EB58-4E6E-9E77-7DCD500F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</a:defRPr>
            </a:pPr>
            <a:r>
              <a:rPr sz="1125" b="1">
                <a:solidFill>
                  <a:srgbClr val="111827"/>
                </a:solidFill>
              </a:rPr>
              <a:t>WaitDispatch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3CBC8-8139-4FDA-BE74-65F13770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B8A19-B972-41BE-BD1D-EB0A9919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38350"/>
            <a:ext cx="1619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FBEE9-E582-4B5B-9DEF-188D6A20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</a:defRPr>
            </a:pPr>
            <a:r>
              <a:rPr sz="1125" b="1">
                <a:solidFill>
                  <a:srgbClr val="111827"/>
                </a:solidFill>
              </a:rPr>
              <a:t>LocalWindowCopy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E85282-F666-438A-80AA-885BAAD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2410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068D3D-42D0-4D31-BC4E-3A7D634F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38350"/>
            <a:ext cx="16192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B10EA1-1CA8-4212-9459-213832AD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47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</a:defRPr>
            </a:pPr>
            <a:r>
              <a:rPr sz="1125" b="1">
                <a:solidFill>
                  <a:srgbClr val="111827"/>
                </a:solidFill>
              </a:rPr>
              <a:t>SetExpertNumsA5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EDEEDF-8538-4E0F-9D55-068854B4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FF3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F323B-D655-480F-9737-EBCE9396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67600"/>
                </a:solidFill>
              </a:defRPr>
            </a:pPr>
            <a:r>
              <a:rPr sz="1200" b="1">
                <a:solidFill>
                  <a:srgbClr val="C67600"/>
                </a:solidFill>
              </a:rPr>
              <a:t>FullMesh 模板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921D7A-980F-4B71-A6F4-0BA0D094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2381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10E5D-BDA8-40FD-BECC-695DEA19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前半 AIV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412664-72FC-4816-8D43-3DC966AB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AllToAllDispatch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FDAE6B-3028-4E9B-BA56-F040A9CD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2381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E88CAA-F7EC-4D9F-AC86-0DB046EB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后半 AIV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85E4F0-FCF0-474B-BE4A-D8F1FAD5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724400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CalCumSum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62422E-43A1-489B-B608-DA737606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767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C676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E0B63E-FDC5-4220-BDFB-E40DF7B4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481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67600"/>
                </a:solidFill>
              </a:defRPr>
            </a:pPr>
            <a:r>
              <a:rPr sz="1800" b="1">
                <a:solidFill>
                  <a:srgbClr val="C67600"/>
                </a:solidFill>
              </a:rPr>
              <a:t>统一输出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8BED1A-81B8-4780-8D4D-EDE4E50F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629150"/>
            <a:ext cx="196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PipeBarrier</a:t>
            </a:r>
          </a:p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LocalWindowCopy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9BD0E2-6169-4E77-9325-624B17B4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1010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76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14BC1C-B069-4414-B48B-41A4F9C4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76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BB2830-B9C2-4A6E-A9D7-659D1979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MTE/fullmesh 下发阶段不创建 CCU fusion task，设备侧依赖 HCCL context 与 window/status 协作。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B07199-54F7-4B5E-8CC0-7B262ADF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源码：op_kernel/moe_distribute_dispatch_v2.h；op_kernel/moe_distribute_dispatch_v2_full_mesh.h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0C7799-CB43-4580-BB9E-4CC92A4B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18951553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89402F-5546-49A1-8619-8981495A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E6B7E"/>
                </a:solidFill>
              </a:defRPr>
            </a:pPr>
            <a:r>
              <a:rPr sz="1200" b="1">
                <a:solidFill>
                  <a:srgbClr val="5E6B7E"/>
                </a:solidFill>
              </a:rPr>
              <a:t>moe_distribute_dispatch_v2 / A5 下发流程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902C3-44FA-49CF-99E2-4E51ECDD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A5 排查：先对齐 comm_alg，再看 task 和 tiling key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3A64C-693F-46F6-BDEF-749A4A1D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9CC27-DE17-4B50-B888-076B4C4B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AB75A-C64A-44BB-844E-5BC24FFC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DC840-1CB7-4606-9BC7-5C7C2F35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8276D-98BF-4F95-A579-8A8F3D18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57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comm_alg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6A710-C31E-46C0-B8B5-B893FCB8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097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ccu / mte / fullmesh / empty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1ED19-564B-4F02-9774-7E18F112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8590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FC683-6172-4281-9B84-9E787EDB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57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5B554-5B40-4CC7-8319-5DF673D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335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C7CA3-440A-4798-B3C5-04DC8813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57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GenerateTask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9A91FC-6620-4E7E-9DE0-835C5D80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097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CCU fusion task 或 HCOM args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775CB-D1F0-427E-A4A9-77B034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8590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6BE48-2411-449B-9AA0-D53FB3CA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57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B6E4EE-2781-4A71-B8F2-1EEA739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335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1F472-7254-456B-84EE-3580C9B4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657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ACLNN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7B892-70E7-470F-92F1-D315EC61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0977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inner V2 / inner V3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B2E9E-F1BB-479C-99F7-01A6C5EA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8CF5F1-0257-4624-92A5-E20DAB39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7E2FE6-B6D8-4732-BB3B-1D26359D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55B077-BCE9-4645-9F89-7074FB3D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Host Tiling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17B3D9-4A9F-4181-BED4-F97691C4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385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OP_VERSION_2 或 public path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2287DF-E86D-45BB-8A3C-F80E3EF0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1465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B8554-E41F-49AA-BC5E-A676F732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8291BA-7662-47D8-A5A6-6B6FFE04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62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223FD-A907-4271-8EDF-A34573A4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TilingKey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B60ECD-6717-474B-9EB3-92B27514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385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COMM / FullMesh / ArchTag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8BF46C-4F7F-485F-B075-0BB9F8D3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14650"/>
            <a:ext cx="3048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359462-06B9-491A-8589-031312D7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86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AE99C9-D8A2-480E-AED6-CCC20BD9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623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599F77-893E-4673-9CA7-F3009BBB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Kernel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287099-F6B5-4651-8DF2-7B6C52D2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38525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827"/>
                </a:solidFill>
              </a:defRPr>
            </a:pPr>
            <a:r>
              <a:rPr sz="1200">
                <a:solidFill>
                  <a:srgbClr val="111827"/>
                </a:solidFill>
              </a:rPr>
              <a:t>A5 / V2 / FullMesh 模板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0E4BD5-BE31-4469-862E-7D25F3DC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03441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8E6"/>
          </a:solidFill>
          <a:ln xmlns:a="http://schemas.openxmlformats.org/drawingml/2006/main" w="9525">
            <a:solidFill>
              <a:srgbClr val="F2B8B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8C751E-FA08-4CD5-9B60-7F14CC54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971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64545"/>
                </a:solidFill>
              </a:defRPr>
            </a:pPr>
            <a:r>
              <a:rPr sz="1575" b="1">
                <a:solidFill>
                  <a:srgbClr val="D64545"/>
                </a:solidFill>
              </a:rPr>
              <a:t>误判风险：A5 non-ccu 可能被 fusion pass 改写为 V3；ccu 当前 tiling key 固定 no-fullmesh 且 tp=false。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34274C-A794-4C59-AAED-604B3CE1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714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源码：03_moe_distribute_dispatch_v2_a5_dispatch_flow_deep_analysis.md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38ADBB-3062-4227-A9C0-AD82AF43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389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5E6B7E"/>
                </a:solidFill>
              </a:defRPr>
            </a:pPr>
            <a:r>
              <a:rPr sz="825">
                <a:solidFill>
                  <a:srgbClr val="5E6B7E"/>
                </a:solidFill>
              </a:rPr>
              <a:t>静态源码分析，未做 A5 实机运行验证</a:t>
            </a:r>
          </a:p>
        </p:txBody>
      </p:sp>
    </p:spTree>
    <p:extLst>
      <p:ext uri="{BB962C8B-B14F-4D97-AF65-F5344CB8AC3E}">
        <p14:creationId xmlns:p14="http://schemas.microsoft.com/office/powerpoint/2010/main" val="6992501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2026-06-24T12:59:05.3920000Z</dcterms:created>
  <dcterms:modified xsi:type="dcterms:W3CDTF">2026-06-24T12:59:05.3920000Z</dcterms:modified>
</coreProperties>
</file>